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7B2FB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E85D0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560320" cy="2560320"/>
          </a:xfrm>
          <a:prstGeom prst="ellipse">
            <a:avLst/>
          </a:prstGeom>
          <a:solidFill>
            <a:srgbClr val="1A6B4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22960"/>
            <a:ext cx="2011680" cy="320040"/>
          </a:xfrm>
          <a:prstGeom prst="rect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22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DFF"/>
                </a:solidFill>
              </a:rPr>
              <a:t>ANTHROPIC · GUIA DO DESENVOLVEDOR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pPr indent="0" marL="0">
              <a:buNone/>
            </a:pPr>
            <a:r>
              <a:rPr lang="en-US" sz="3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3000" b="1" dirty="0">
                <a:solidFill>
                  <a:srgbClr val="5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abordagem, diferenças arquiteturais e casos de uso práticos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2560320" cy="384048"/>
          </a:xfrm>
          <a:prstGeom prst="rect">
            <a:avLst/>
          </a:prstGeom>
          <a:solidFill>
            <a:srgbClr val="E85D04">
              <a:alpha val="22000"/>
            </a:srgbClr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A08"/>
                </a:solidFill>
              </a:rPr>
              <a:t>Claude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3383280"/>
            <a:ext cx="2560320" cy="384048"/>
          </a:xfrm>
          <a:prstGeom prst="rect">
            <a:avLst/>
          </a:prstGeom>
          <a:solidFill>
            <a:srgbClr val="7B2FBE">
              <a:alpha val="2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383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DFF"/>
                </a:solidFill>
              </a:rPr>
              <a:t>Agent SDK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2560320" cy="384048"/>
          </a:xfrm>
          <a:prstGeom prst="rect">
            <a:avLst/>
          </a:prstGeom>
          <a:solidFill>
            <a:srgbClr val="1A6B4A">
              <a:alpha val="22000"/>
            </a:srgbClr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383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D6A0"/>
                </a:solidFill>
              </a:rPr>
              <a:t>Claude Desktop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73752"/>
            <a:ext cx="82296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platform.claude.com/docs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Abordagens Claude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Cada camada oferece um nível diferente de controle, automação e experiência do usuário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388620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834640" cy="5029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170432"/>
            <a:ext cx="822960" cy="822960"/>
          </a:xfrm>
          <a:prstGeom prst="ellipse">
            <a:avLst/>
          </a:prstGeom>
          <a:solidFill>
            <a:srgbClr val="E85D04">
              <a:alpha val="7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1704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752" y="208483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" y="2423160"/>
            <a:ext cx="2688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Messages API · REST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724912"/>
            <a:ext cx="2651760" cy="246888"/>
          </a:xfrm>
          <a:prstGeom prst="rect">
            <a:avLst/>
          </a:prstGeom>
          <a:solidFill>
            <a:srgbClr val="E85D04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7249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A08"/>
                </a:solidFill>
              </a:rPr>
              <a:t>Desenvolvedores &amp; Engenheiros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" y="3163824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815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Chamadas REST diretas ao modelo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" y="3511296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290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Controle total de parâmetros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3192" y="3858768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764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Você gerencia o loop de agente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" y="4206240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239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Python / TypeScript SDKs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3192" y="4553712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714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Qualquer plataforma / infra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1051560"/>
            <a:ext cx="2834640" cy="388620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051560"/>
            <a:ext cx="2834640" cy="5029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Shape 23"/>
          <p:cNvSpPr/>
          <p:nvPr/>
        </p:nvSpPr>
        <p:spPr>
          <a:xfrm>
            <a:off x="4251960" y="1170432"/>
            <a:ext cx="822960" cy="822960"/>
          </a:xfrm>
          <a:prstGeom prst="ellipse">
            <a:avLst/>
          </a:prstGeom>
          <a:solidFill>
            <a:srgbClr val="7B2FBE">
              <a:alpha val="7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251960" y="11704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19272" y="208483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19272" y="2423160"/>
            <a:ext cx="2688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claude-agent-sdk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2724912"/>
            <a:ext cx="2651760" cy="246888"/>
          </a:xfrm>
          <a:prstGeom prst="rect">
            <a:avLst/>
          </a:prstGeom>
          <a:solidFill>
            <a:srgbClr val="7B2FBE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27249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</a:rPr>
              <a:t>Builders de Produtos &amp; DevOps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10712" y="3163824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0815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Mesmo motor do Claude Code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10712" y="3511296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34290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Loop de agente embutido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10712" y="3858768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7764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Bash, Edit, Glob, MCP nativo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10712" y="4206240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41239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Sessões persistentes e forks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10712" y="4553712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44714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Integra em sua infra própria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1051560"/>
            <a:ext cx="2834640" cy="388620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1051560"/>
            <a:ext cx="2834640" cy="5029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43" name="Shape 41"/>
          <p:cNvSpPr/>
          <p:nvPr/>
        </p:nvSpPr>
        <p:spPr>
          <a:xfrm>
            <a:off x="7269480" y="1170432"/>
            <a:ext cx="822960" cy="822960"/>
          </a:xfrm>
          <a:prstGeom prst="ellipse">
            <a:avLst/>
          </a:prstGeom>
          <a:solidFill>
            <a:srgbClr val="1A6B4A">
              <a:alpha val="7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269480" y="11704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336792" y="208483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36792" y="2423160"/>
            <a:ext cx="2688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claude.ai · Apps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55080" y="2724912"/>
            <a:ext cx="2651760" cy="246888"/>
          </a:xfrm>
          <a:prstGeom prst="rect">
            <a:avLst/>
          </a:prstGeom>
          <a:solidFill>
            <a:srgbClr val="1A6B4A">
              <a:alpha val="2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27249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D6A0"/>
                </a:solidFill>
              </a:rPr>
              <a:t>Usuários Finais &amp; Times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28232" y="3163824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30815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Interface sem código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28232" y="3511296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52" name="Text 50"/>
          <p:cNvSpPr/>
          <p:nvPr/>
        </p:nvSpPr>
        <p:spPr>
          <a:xfrm>
            <a:off x="6583680" y="34290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Conectores prontos (Slack, Drive...)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28232" y="3858768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0" y="37764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Projects e memória persistente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28232" y="4206240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0" y="41239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Planos Free / Pro / Team / Enterprise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28232" y="4553712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0" y="44714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Sem necessidade de dev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1371600" cy="347472"/>
          </a:xfrm>
          <a:prstGeom prst="rect">
            <a:avLst/>
          </a:prstGeom>
          <a:solidFill>
            <a:srgbClr val="E85D04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BA08"/>
                </a:solidFill>
              </a:rPr>
              <a:t>CLAUDE API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Messages API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A08"/>
                </a:solidFill>
              </a:rPr>
              <a:t>Acesso direto ao modelo. Você controla tudo.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591056"/>
            <a:ext cx="146304" cy="146304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A08"/>
                </a:solidFill>
              </a:rPr>
              <a:t>Chamadas REST / SDK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Python e TypeScript oficiais. Suporte a streaming, batch e structured outputs.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249424"/>
            <a:ext cx="146304" cy="146304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A08"/>
                </a:solidFill>
              </a:rPr>
              <a:t>Controle de parâmetros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Temperature, top_p, max_tokens, system prompts e prompt caching por requisição.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907792"/>
            <a:ext cx="146304" cy="146304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A08"/>
                </a:solidFill>
              </a:rPr>
              <a:t>Tool Use / Function Calling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Defina ferramentas com JSON Schema. Claude decide quando e como chamá-las.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566160"/>
            <a:ext cx="146304" cy="146304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A08"/>
                </a:solidFill>
              </a:rPr>
              <a:t>Vision, PDF, Embeddings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Envie imagens, PDFs e documentos. Gere embeddings para busca semântica.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4224528"/>
            <a:ext cx="146304" cy="146304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A08"/>
                </a:solidFill>
              </a:rPr>
              <a:t>Extended Thinking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Claude expõe o raciocínio interno (thinking tokens) antes da resposta final.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1417320"/>
            <a:ext cx="3931920" cy="352044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1417320"/>
            <a:ext cx="3931920" cy="5029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A08"/>
                </a:solidFill>
              </a:rPr>
              <a:t>Quando Escolher a API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1938528"/>
            <a:ext cx="109728" cy="10972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9110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Integrar Claude em produto ou backend próprio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2304288"/>
            <a:ext cx="109728" cy="10972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22768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Precisar de controle fino de parâmetros por request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2670048"/>
            <a:ext cx="109728" cy="10972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6426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Construir pipeline RAG ou busca semântica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3035808"/>
            <a:ext cx="109728" cy="10972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30083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Processar lotes grandes de documentos (Batch API)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0" y="3401568"/>
            <a:ext cx="109728" cy="10972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3741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Casos de uso multimodais (imagem, PDF, vídeo)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20640" y="3767328"/>
            <a:ext cx="109728" cy="10972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3739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Compliance — dados nunca saem da sua infra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4087368"/>
            <a:ext cx="393192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413308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A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Anthropic()
</a:t>
            </a:r>
            <a:pPr indent="0" marL="0">
              <a:buNone/>
            </a:pPr>
            <a:r>
              <a:rPr lang="en-US" sz="900" b="1" dirty="0">
                <a:solidFill>
                  <a:srgbClr val="FFBA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.messages.create(model=</a:t>
            </a:r>
            <a:pPr indent="0" marL="0">
              <a:buNone/>
            </a:pPr>
            <a:r>
              <a:rPr lang="en-US" sz="900" dirty="0">
                <a:solidFill>
                  <a:srgbClr val="52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"claude-sonnet-4-6"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1463040" cy="347472"/>
          </a:xfrm>
          <a:prstGeom prst="rect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77DFF"/>
                </a:solidFill>
              </a:rPr>
              <a:t>AGENT SDK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7DFF"/>
                </a:solidFill>
              </a:rPr>
              <a:t>O mesmo motor do Claude Code — agora disponível para você construir.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591056"/>
            <a:ext cx="146304" cy="146304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Loop de Agente Embutido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Sem implementar o ciclo ferramenta→resultado→resposta. O SDK gerencia tudo.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249424"/>
            <a:ext cx="146304" cy="146304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Ferramentas Nativas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Bash, Glob, LS, View, Edit, Write — tudo pronto. Sem scaffold manual.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907792"/>
            <a:ext cx="146304" cy="146304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Integração MCP First-class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Conecte qualquer servidor MCP e descubra ferramentas em runtime automaticamente.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566160"/>
            <a:ext cx="146304" cy="146304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Sessões &amp; Forks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Mantenha histórico de conversa. Bifurque sessões para testar variações.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4224528"/>
            <a:ext cx="146304" cy="146304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Computer Use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Claude interage com apps desktop via screenshots, mouse e teclado.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1417320"/>
            <a:ext cx="3931920" cy="352044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1417320"/>
            <a:ext cx="3931920" cy="5029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</a:rPr>
              <a:t>Quando Escolher o Agent SDK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1938528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9110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Construir agentes autônomos de múltiplos passos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2304288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22768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Tarefas de código, leitura/escrita de arquivos, shell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2670048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6426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Produto que embute Claude Code como motor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3035808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30083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Precisar de contexto longo e execução 30h+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0" y="3401568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3741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Controlar infra e não usar claude.ai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20640" y="3767328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3739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Integrar ferramentas MCP de terceiros via protocolo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4087368"/>
            <a:ext cx="393192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413308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for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 </a:t>
            </a:r>
            <a:pPr indent="0" marL="0">
              <a:buNone/>
            </a:pPr>
            <a:r>
              <a:rPr lang="en-US" sz="85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query(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</a:t>
            </a:r>
            <a:pPr indent="0" marL="0">
              <a:buNone/>
            </a:pPr>
            <a:r>
              <a:rPr lang="en-US" sz="850" dirty="0">
                <a:solidFill>
                  <a:srgbClr val="52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"Encontre e corrija bugs"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options=ClaudeAgentOptions(...))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1828800" cy="347472"/>
          </a:xfrm>
          <a:prstGeom prst="rect">
            <a:avLst/>
          </a:prstGeom>
          <a:solidFill>
            <a:srgbClr val="1A6B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2D6A0"/>
                </a:solidFill>
              </a:rPr>
              <a:t>CLAUDE DESKTOP / WEB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&amp; claude.ai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D6A0"/>
                </a:solidFill>
              </a:rPr>
              <a:t>Interface pronta — sem escrever uma linha de código.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591056"/>
            <a:ext cx="146304" cy="146304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D6A0"/>
                </a:solidFill>
              </a:rPr>
              <a:t>Projects &amp; Memória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Organize conversas em projetos com contexto persistente e memória entre sessões.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249424"/>
            <a:ext cx="146304" cy="146304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D6A0"/>
                </a:solidFill>
              </a:rPr>
              <a:t>Conectores Prontos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Slack, Google Drive, GitHub, Notion — sync automático sem código de integração.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907792"/>
            <a:ext cx="146304" cy="146304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D6A0"/>
                </a:solidFill>
              </a:rPr>
              <a:t>Artifacts &amp; Canvas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Gere código, dashboards e documentos interativos diretamente no chat.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566160"/>
            <a:ext cx="146304" cy="146304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D6A0"/>
                </a:solidFill>
              </a:rPr>
              <a:t>Planos Free → Enterprise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Do uso casual ao deployment enterprise com SSO, DLP e auditoria.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4224528"/>
            <a:ext cx="146304" cy="146304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D6A0"/>
                </a:solidFill>
              </a:rPr>
              <a:t>Claude Code no Desktop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Usuários Pro/Max podem rodar Claude Code nativamente no app desktop.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1417320"/>
            <a:ext cx="3931920" cy="352044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1417320"/>
            <a:ext cx="3931920" cy="5029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D6A0"/>
                </a:solidFill>
              </a:rPr>
              <a:t>Quando Escolher o Desktop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1938528"/>
            <a:ext cx="109728" cy="109728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9110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Usuários finais sem experiência em código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2304288"/>
            <a:ext cx="109728" cy="109728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22768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Times que querem IA sem overhead de infra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2670048"/>
            <a:ext cx="109728" cy="109728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6426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Uso pessoal, criativo ou de conhecimento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3035808"/>
            <a:ext cx="109728" cy="109728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30083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Acesso rápido a conectores de produtividade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0" y="3401568"/>
            <a:ext cx="109728" cy="109728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3741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Prototipagem e validação de ideias sem dev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20640" y="3767328"/>
            <a:ext cx="109728" cy="109728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3739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Organizações com plano Team ou Enterprise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4087368"/>
            <a:ext cx="3931920" cy="804672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39" name="Shape 37"/>
          <p:cNvSpPr/>
          <p:nvPr/>
        </p:nvSpPr>
        <p:spPr>
          <a:xfrm>
            <a:off x="5074920" y="4178808"/>
            <a:ext cx="804672" cy="621792"/>
          </a:xfrm>
          <a:prstGeom prst="rect">
            <a:avLst/>
          </a:prstGeom>
          <a:solidFill>
            <a:srgbClr val="8899AA">
              <a:alpha val="2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4178808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99AA"/>
                </a:solidFill>
              </a:rPr>
              <a:t>Free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07608" y="4178808"/>
            <a:ext cx="804672" cy="621792"/>
          </a:xfrm>
          <a:prstGeom prst="rect">
            <a:avLst/>
          </a:prstGeom>
          <a:solidFill>
            <a:srgbClr val="52D6A0">
              <a:alpha val="2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007608" y="4178808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D6A0"/>
                </a:solidFill>
              </a:rPr>
              <a:t>Pro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0296" y="4178808"/>
            <a:ext cx="804672" cy="621792"/>
          </a:xfrm>
          <a:prstGeom prst="rect">
            <a:avLst/>
          </a:prstGeom>
          <a:solidFill>
            <a:srgbClr val="FFBA08">
              <a:alpha val="2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940296" y="4178808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A08"/>
                </a:solidFill>
              </a:rPr>
              <a:t>Team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872984" y="4178808"/>
            <a:ext cx="804672" cy="621792"/>
          </a:xfrm>
          <a:prstGeom prst="rect">
            <a:avLst/>
          </a:prstGeom>
          <a:solidFill>
            <a:srgbClr val="C77DFF">
              <a:alpha val="2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872984" y="4178808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7DFF"/>
                </a:solidFill>
              </a:rPr>
              <a:t>Enterprise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BA0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vs Agent SDK — Diferença Fundamental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Quem controla o loop de execução?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023360" cy="347472"/>
          </a:xfrm>
          <a:prstGeom prst="rect">
            <a:avLst/>
          </a:prstGeom>
          <a:solidFill>
            <a:srgbClr val="E85D04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A08"/>
                </a:solidFill>
              </a:rPr>
              <a:t>Claude API — Você controla o loop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566160" cy="420624"/>
          </a:xfrm>
          <a:prstGeom prst="rect">
            <a:avLst/>
          </a:prstGeom>
          <a:solidFill>
            <a:srgbClr val="141926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1. Enviar prompt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1901952"/>
            <a:ext cx="54864" cy="1280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29968"/>
            <a:ext cx="3566160" cy="420624"/>
          </a:xfrm>
          <a:prstGeom prst="rect">
            <a:avLst/>
          </a:prstGeom>
          <a:solidFill>
            <a:srgbClr val="141926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2. Claude retorna tool_call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03120" y="2450592"/>
            <a:ext cx="54864" cy="1280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78608"/>
            <a:ext cx="3566160" cy="420624"/>
          </a:xfrm>
          <a:prstGeom prst="rect">
            <a:avLst/>
          </a:prstGeom>
          <a:solidFill>
            <a:srgbClr val="141926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78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3. Você executa a ferramenta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03120" y="2999232"/>
            <a:ext cx="54864" cy="1280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127248"/>
            <a:ext cx="3566160" cy="420624"/>
          </a:xfrm>
          <a:prstGeom prst="rect">
            <a:avLst/>
          </a:prstGeom>
          <a:solidFill>
            <a:srgbClr val="141926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272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4. Enviar resultado de volta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03120" y="3547872"/>
            <a:ext cx="54864" cy="1280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675888"/>
            <a:ext cx="3566160" cy="420624"/>
          </a:xfrm>
          <a:prstGeom prst="rect">
            <a:avLst/>
          </a:prstGeom>
          <a:solidFill>
            <a:srgbClr val="141926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758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5. Claude responde (ou loop de novo)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2793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5D04"/>
                </a:solidFill>
              </a:rPr>
              <a:t>→ Toda a lógica vive no seu código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960120"/>
            <a:ext cx="0" cy="3840480"/>
          </a:xfrm>
          <a:prstGeom prst="line">
            <a:avLst/>
          </a:prstGeom>
          <a:noFill/>
          <a:ln w="19050">
            <a:solidFill>
              <a:srgbClr val="1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024128"/>
            <a:ext cx="4023360" cy="347472"/>
          </a:xfrm>
          <a:prstGeom prst="rect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DFF"/>
                </a:solidFill>
              </a:rPr>
              <a:t>Agent SDK — SDK controla o loop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1481328"/>
            <a:ext cx="3566160" cy="420624"/>
          </a:xfrm>
          <a:prstGeom prst="rect">
            <a:avLst/>
          </a:prstGeom>
          <a:solidFill>
            <a:srgbClr val="141926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481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1. Enviar prompt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1901952"/>
            <a:ext cx="54864" cy="1280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2029968"/>
            <a:ext cx="3566160" cy="420624"/>
          </a:xfrm>
          <a:prstGeom prst="rect">
            <a:avLst/>
          </a:prstGeom>
          <a:solidFill>
            <a:srgbClr val="0F1520"/>
          </a:solidFill>
          <a:ln w="6350">
            <a:solidFill>
              <a:srgbClr val="7B2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0299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7DFF"/>
                </a:solidFill>
              </a:rPr>
              <a:t>SDK ↔ Claude (loop interno)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75120" y="2450592"/>
            <a:ext cx="54864" cy="1280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0" y="2578608"/>
            <a:ext cx="3566160" cy="420624"/>
          </a:xfrm>
          <a:prstGeom prst="rect">
            <a:avLst/>
          </a:prstGeom>
          <a:solidFill>
            <a:srgbClr val="0F1520"/>
          </a:solidFill>
          <a:ln w="6350">
            <a:solidFill>
              <a:srgbClr val="7B2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578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7DFF"/>
                </a:solidFill>
              </a:rPr>
              <a:t>SDK executa ferramentas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75120" y="2999232"/>
            <a:ext cx="54864" cy="1280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3127248"/>
            <a:ext cx="3566160" cy="420624"/>
          </a:xfrm>
          <a:prstGeom prst="rect">
            <a:avLst/>
          </a:prstGeom>
          <a:solidFill>
            <a:srgbClr val="0F1520"/>
          </a:solidFill>
          <a:ln w="6350">
            <a:solidFill>
              <a:srgbClr val="7B2F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1272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7DFF"/>
                </a:solidFill>
              </a:rPr>
              <a:t>SDK acumula contexto/sessão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75120" y="3547872"/>
            <a:ext cx="54864" cy="1280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7" name="Shape 35"/>
          <p:cNvSpPr/>
          <p:nvPr/>
        </p:nvSpPr>
        <p:spPr>
          <a:xfrm>
            <a:off x="5029200" y="3675888"/>
            <a:ext cx="3566160" cy="420624"/>
          </a:xfrm>
          <a:prstGeom prst="rect">
            <a:avLst/>
          </a:prstGeom>
          <a:solidFill>
            <a:srgbClr val="141926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6758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3. Você recebe o resultado final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0" y="42793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B2FBE"/>
                </a:solidFill>
              </a:rPr>
              <a:t>→ Loop gerenciado. Menos código de plumbing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BA0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Completo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API · Agent SDK · Desktop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23160" y="987552"/>
            <a:ext cx="2011680" cy="365760"/>
          </a:xfrm>
          <a:prstGeom prst="rect">
            <a:avLst/>
          </a:prstGeom>
          <a:solidFill>
            <a:srgbClr val="E85D04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423160" y="987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A08"/>
                </a:solidFill>
              </a:rPr>
              <a:t>Claude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87552"/>
            <a:ext cx="2011680" cy="365760"/>
          </a:xfrm>
          <a:prstGeom prst="rect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987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DFF"/>
                </a:solidFill>
              </a:rPr>
              <a:t>Agent SDK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987552"/>
            <a:ext cx="2011680" cy="365760"/>
          </a:xfrm>
          <a:prstGeom prst="rect">
            <a:avLst/>
          </a:prstGeom>
          <a:solidFill>
            <a:srgbClr val="1A6B4A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987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D6A0"/>
                </a:solidFill>
              </a:rPr>
              <a:t>Desktop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859536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4173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Quem usa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1417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Devs / Engenheiros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Builders / DevOps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95160" y="1417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Usuários Finais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8595360" cy="420624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8745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Loop de agente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18745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Você implementa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8745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SDK gerencia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95160" y="18745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Nativo na UI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859536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3317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Ferramentas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2331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Você define (JSON)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331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Bash/Edit/MCP prontos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95160" y="2331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Conectores GUI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788920"/>
            <a:ext cx="8595360" cy="420624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7889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Infra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23160" y="27889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Sua responsabilidade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27889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Sua responsabilidade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95160" y="27889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Anthropic gerencia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246120"/>
            <a:ext cx="859536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2461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Custo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23160" y="3246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Por token (API key)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3246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Por token (API key)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95160" y="3246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Plano fixo/token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03320"/>
            <a:ext cx="8595360" cy="420624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7033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Setup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2316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SDK + código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pip/npm install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9516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Zero (UI pronta)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160520"/>
            <a:ext cx="859536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1605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MCP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23160" y="41605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Via API MCP connector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41605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Nativo first-class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95160" y="41605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Conectores GUI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6177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Computer Use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23160" y="4617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Via tool_use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09160" y="4617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Integrado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95160" y="4617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Parcialmente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Decidir?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Fluxo de perguntas para escolher a abordagem certa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834640" cy="393192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2834640" cy="5029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987552"/>
            <a:ext cx="2834640" cy="1188720"/>
          </a:xfrm>
          <a:prstGeom prst="rect">
            <a:avLst/>
          </a:prstGeom>
          <a:solidFill>
            <a:srgbClr val="E85D04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033272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Tem equipe de dev e precisa de controle total da lógica?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2468880" cy="347472"/>
          </a:xfrm>
          <a:prstGeom prst="rect">
            <a:avLst/>
          </a:prstGeom>
          <a:solidFill>
            <a:srgbClr val="E85D04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A08"/>
                </a:solidFill>
              </a:rPr>
              <a:t>→ Claude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" y="2788920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79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RAG / busca semântica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191256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81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Produto com modelo customizado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" y="3593592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83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Batch processing de docs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3192" y="3995928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86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Fine-tuning de prompt por request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987552"/>
            <a:ext cx="2834640" cy="393192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987552"/>
            <a:ext cx="2834640" cy="5029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6120" y="987552"/>
            <a:ext cx="2834640" cy="1188720"/>
          </a:xfrm>
          <a:prstGeom prst="rect">
            <a:avLst/>
          </a:prstGeom>
          <a:solidFill>
            <a:srgbClr val="7B2FBE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1033272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Quer automação com agentes, mas sem implementar o loop?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2212848"/>
            <a:ext cx="2468880" cy="347472"/>
          </a:xfrm>
          <a:prstGeom prst="rect">
            <a:avLst/>
          </a:prstGeom>
          <a:solidFill>
            <a:srgbClr val="7B2FBE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FF"/>
                </a:solidFill>
              </a:rPr>
              <a:t>→ Agent SDK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10712" y="2788920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679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Agente de código autônomo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0712" y="3191256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3081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Tarefas longas (30h+)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3593592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483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Integração MCP de terceiros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886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Produto embarcando Claude Code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987552"/>
            <a:ext cx="2834640" cy="393192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987552"/>
            <a:ext cx="2834640" cy="5029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5" name="Shape 33"/>
          <p:cNvSpPr/>
          <p:nvPr/>
        </p:nvSpPr>
        <p:spPr>
          <a:xfrm>
            <a:off x="6263640" y="987552"/>
            <a:ext cx="2834640" cy="1188720"/>
          </a:xfrm>
          <a:prstGeom prst="rect">
            <a:avLst/>
          </a:prstGeom>
          <a:solidFill>
            <a:srgbClr val="1A6B4A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73368" y="1033272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Usuários finais ou times que não querem escrever código?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2212848"/>
            <a:ext cx="2468880" cy="347472"/>
          </a:xfrm>
          <a:prstGeom prst="rect">
            <a:avLst/>
          </a:prstGeom>
          <a:solidFill>
            <a:srgbClr val="1A6B4A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2212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D6A0"/>
                </a:solidFill>
              </a:rPr>
              <a:t>→ Claude Desktop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28232" y="2788920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2679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Equipe de marketing / RH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28232" y="3191256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3081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Prototipagem rápida sem dev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3593592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3483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Uso pessoal e criativo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28232" y="3995928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3886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Plano Team / Enterprise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</a:rPr>
              <a:t>💡  As abordagens são complementares — muitos times usam API + Agent SDK juntos no mesmo projeto.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por Setor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Exemplos práticos mapeados por abordagem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320040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🏗️  Engenharia de Software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20624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3716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Code review automatizado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444752"/>
            <a:ext cx="1042416" cy="256032"/>
          </a:xfrm>
          <a:prstGeom prst="rect">
            <a:avLst/>
          </a:prstGeom>
          <a:solidFill>
            <a:srgbClr val="7B2FBE">
              <a:alpha val="2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144475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7DFF"/>
                </a:solidFill>
              </a:rPr>
              <a:t>Agent SDK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1847088"/>
            <a:ext cx="4206240" cy="420624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18470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Geração de testes unitários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64408" y="1920240"/>
            <a:ext cx="1042416" cy="256032"/>
          </a:xfrm>
          <a:prstGeom prst="rect">
            <a:avLst/>
          </a:prstGeom>
          <a:solidFill>
            <a:srgbClr val="E85D04">
              <a:alpha val="2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92024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A08"/>
                </a:solidFill>
              </a:rPr>
              <a:t>API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322576"/>
            <a:ext cx="420624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" y="232257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Pair programmer no IDE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64408" y="2395728"/>
            <a:ext cx="1042416" cy="256032"/>
          </a:xfrm>
          <a:prstGeom prst="rect">
            <a:avLst/>
          </a:prstGeom>
          <a:solidFill>
            <a:srgbClr val="1A6B4A">
              <a:alpha val="2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64408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D6A0"/>
                </a:solidFill>
              </a:rPr>
              <a:t>Desktop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005840"/>
            <a:ext cx="4206240" cy="320040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📊  Dados &amp; Analytics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371600"/>
            <a:ext cx="420624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13716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Pipeline ETL com IA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44968" y="1444752"/>
            <a:ext cx="1042416" cy="256032"/>
          </a:xfrm>
          <a:prstGeom prst="rect">
            <a:avLst/>
          </a:prstGeom>
          <a:solidFill>
            <a:srgbClr val="E85D04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44968" y="144475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A08"/>
                </a:solidFill>
              </a:rPr>
              <a:t>API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847088"/>
            <a:ext cx="4206240" cy="420624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18470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Agente explorador de dados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44968" y="1920240"/>
            <a:ext cx="1042416" cy="256032"/>
          </a:xfrm>
          <a:prstGeom prst="rect">
            <a:avLst/>
          </a:prstGeom>
          <a:solidFill>
            <a:srgbClr val="7B2FBE">
              <a:alpha val="2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44968" y="192024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7DFF"/>
                </a:solidFill>
              </a:rPr>
              <a:t>Agent SDK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322576"/>
            <a:ext cx="420624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32257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Dashboard de insights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44968" y="2395728"/>
            <a:ext cx="1042416" cy="256032"/>
          </a:xfrm>
          <a:prstGeom prst="rect">
            <a:avLst/>
          </a:prstGeom>
          <a:solidFill>
            <a:srgbClr val="1A6B4A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44968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D6A0"/>
                </a:solidFill>
              </a:rPr>
              <a:t>Desktop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063240"/>
            <a:ext cx="4206240" cy="320040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⚖️  Jurídico &amp; Compliance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3429000"/>
            <a:ext cx="420624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" y="34290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Revisão de contratos em lote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64408" y="3502152"/>
            <a:ext cx="1042416" cy="256032"/>
          </a:xfrm>
          <a:prstGeom prst="rect">
            <a:avLst/>
          </a:prstGeom>
          <a:solidFill>
            <a:srgbClr val="E85D04">
              <a:alpha val="2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64408" y="350215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A08"/>
                </a:solidFill>
              </a:rPr>
              <a:t>API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3904488"/>
            <a:ext cx="4206240" cy="420624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" y="39044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Agente de due diligence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64408" y="3977640"/>
            <a:ext cx="1042416" cy="256032"/>
          </a:xfrm>
          <a:prstGeom prst="rect">
            <a:avLst/>
          </a:prstGeom>
          <a:solidFill>
            <a:srgbClr val="7B2FBE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264408" y="397764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7DFF"/>
                </a:solidFill>
              </a:rPr>
              <a:t>Agent SDK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" y="4379976"/>
            <a:ext cx="420624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" y="437997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Pesquisa jurídica guiada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64408" y="4453128"/>
            <a:ext cx="1042416" cy="256032"/>
          </a:xfrm>
          <a:prstGeom prst="rect">
            <a:avLst/>
          </a:prstGeom>
          <a:solidFill>
            <a:srgbClr val="1A6B4A">
              <a:alpha val="2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264408" y="44531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D6A0"/>
                </a:solidFill>
              </a:rPr>
              <a:t>Desktop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3063240"/>
            <a:ext cx="4206240" cy="320040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🛒  Produto &amp; Marketing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3429000"/>
            <a:ext cx="420624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50" name="Text 48"/>
          <p:cNvSpPr/>
          <p:nvPr/>
        </p:nvSpPr>
        <p:spPr>
          <a:xfrm>
            <a:off x="4818888" y="34290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Personalização em escala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44968" y="3502152"/>
            <a:ext cx="1042416" cy="256032"/>
          </a:xfrm>
          <a:prstGeom prst="rect">
            <a:avLst/>
          </a:prstGeom>
          <a:solidFill>
            <a:srgbClr val="E85D04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744968" y="350215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A08"/>
                </a:solidFill>
              </a:rPr>
              <a:t>API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09160" y="3904488"/>
            <a:ext cx="4206240" cy="420624"/>
          </a:xfrm>
          <a:prstGeom prst="rect">
            <a:avLst/>
          </a:prstGeom>
          <a:solidFill>
            <a:srgbClr val="1A2136"/>
          </a:solidFill>
          <a:ln/>
        </p:spPr>
      </p:sp>
      <p:sp>
        <p:nvSpPr>
          <p:cNvPr id="54" name="Text 52"/>
          <p:cNvSpPr/>
          <p:nvPr/>
        </p:nvSpPr>
        <p:spPr>
          <a:xfrm>
            <a:off x="4818888" y="39044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Agente de criação de conteúdo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744968" y="3977640"/>
            <a:ext cx="1042416" cy="256032"/>
          </a:xfrm>
          <a:prstGeom prst="rect">
            <a:avLst/>
          </a:prstGeom>
          <a:solidFill>
            <a:srgbClr val="7B2FBE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744968" y="397764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7DFF"/>
                </a:solidFill>
              </a:rPr>
              <a:t>Agent SDK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4379976"/>
            <a:ext cx="4206240" cy="420624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58" name="Text 56"/>
          <p:cNvSpPr/>
          <p:nvPr/>
        </p:nvSpPr>
        <p:spPr>
          <a:xfrm>
            <a:off x="4818888" y="437997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Copywriting e brainstorm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744968" y="4453128"/>
            <a:ext cx="1042416" cy="256032"/>
          </a:xfrm>
          <a:prstGeom prst="rect">
            <a:avLst/>
          </a:prstGeom>
          <a:solidFill>
            <a:srgbClr val="1A6B4A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744968" y="44531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D6A0"/>
                </a:solidFill>
              </a:rPr>
              <a:t>Desktop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E85D0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7B2FBE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3474720"/>
            <a:ext cx="2743200" cy="2743200"/>
          </a:xfrm>
          <a:prstGeom prst="ellipse">
            <a:avLst/>
          </a:prstGeom>
          <a:solidFill>
            <a:srgbClr val="1A6B4A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743200" cy="251460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2743200" cy="5029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307592"/>
            <a:ext cx="822960" cy="822960"/>
          </a:xfrm>
          <a:prstGeom prst="ellipse">
            <a:avLst/>
          </a:prstGeom>
          <a:solidFill>
            <a:srgbClr val="E85D04">
              <a:alpha val="7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075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A08"/>
                </a:solidFill>
              </a:rPr>
              <a:t>Claude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Controle máximo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Para produtos customizados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91440" cy="914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Você gerencia o loop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170432"/>
            <a:ext cx="2743200" cy="251460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170432"/>
            <a:ext cx="2743200" cy="5029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0" name="Shape 18"/>
          <p:cNvSpPr/>
          <p:nvPr/>
        </p:nvSpPr>
        <p:spPr>
          <a:xfrm>
            <a:off x="4187952" y="1307592"/>
            <a:ext cx="822960" cy="822960"/>
          </a:xfrm>
          <a:prstGeom prst="ellipse">
            <a:avLst/>
          </a:prstGeom>
          <a:solidFill>
            <a:srgbClr val="7B2FBE">
              <a:alpha val="7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87952" y="13075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73552" y="2212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DFF"/>
                </a:solidFill>
              </a:rPr>
              <a:t>Agent SDK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10712" y="2761488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Loop automático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0712" y="3072384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Claude Code embutido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3383280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MCP nativo + sessões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1170432"/>
            <a:ext cx="2743200" cy="2514600"/>
          </a:xfrm>
          <a:prstGeom prst="rect">
            <a:avLst/>
          </a:prstGeom>
          <a:solidFill>
            <a:srgbClr val="141926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170432"/>
            <a:ext cx="2743200" cy="5029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0" y="1307592"/>
            <a:ext cx="822960" cy="822960"/>
          </a:xfrm>
          <a:prstGeom prst="ellipse">
            <a:avLst/>
          </a:prstGeom>
          <a:solidFill>
            <a:srgbClr val="1A6B4A">
              <a:alpha val="7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13075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126480" y="2212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D6A0"/>
                </a:solidFill>
              </a:rPr>
              <a:t>Claude Desktop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63640" y="2761488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19088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Zero código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072384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088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Usuários finais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383280"/>
            <a:ext cx="91440" cy="9144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Conectores prontos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38587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As três abordagens são complementares — escolha baseado no público, controle e escala do seu projeto.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41926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617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99AA"/>
                </a:solidFill>
              </a:rPr>
              <a:t>Docs: </a:t>
            </a:r>
            <a:pPr algn="ctr" indent="0" marL="0">
              <a:buNone/>
            </a:pPr>
            <a:r>
              <a:rPr lang="en-US" sz="950" dirty="0">
                <a:solidFill>
                  <a:srgbClr val="C77DFF"/>
                </a:solidFill>
              </a:rPr>
              <a:t>platform.claude.com/docs  </a:t>
            </a:r>
            <a:pPr algn="ctr" indent="0" marL="0">
              <a:buNone/>
            </a:pPr>
            <a:r>
              <a:rPr lang="en-US" sz="950" b="1" dirty="0">
                <a:solidFill>
                  <a:srgbClr val="8899AA"/>
                </a:solidFill>
              </a:rPr>
              <a:t> | Agent SDK: </a:t>
            </a:r>
            <a:pPr algn="ctr" indent="0" marL="0">
              <a:buNone/>
            </a:pPr>
            <a:r>
              <a:rPr lang="en-US" sz="950" dirty="0">
                <a:solidFill>
                  <a:srgbClr val="FFBA08"/>
                </a:solidFill>
              </a:rPr>
              <a:t>npmjs.com/package/@anthropic-ai/claude-agent-sdk  </a:t>
            </a:r>
            <a:pPr algn="ctr" indent="0" marL="0">
              <a:buNone/>
            </a:pPr>
            <a:r>
              <a:rPr lang="en-US" sz="950" b="1" dirty="0">
                <a:solidFill>
                  <a:srgbClr val="8899AA"/>
                </a:solidFill>
              </a:rPr>
              <a:t> | Desktop: </a:t>
            </a:r>
            <a:pPr algn="ctr" indent="0" marL="0">
              <a:buNone/>
            </a:pPr>
            <a:r>
              <a:rPr lang="en-US" sz="950" dirty="0">
                <a:solidFill>
                  <a:srgbClr val="52D6A0"/>
                </a:solidFill>
              </a:rPr>
              <a:t>claude.ai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API vs Agent SDK vs Claude Desktop</dc:title>
  <dc:subject>PptxGenJS Presentation</dc:subject>
  <dc:creator>PptxGenJS</dc:creator>
  <cp:lastModifiedBy>PptxGenJS</cp:lastModifiedBy>
  <cp:revision>1</cp:revision>
  <dcterms:created xsi:type="dcterms:W3CDTF">2026-04-01T17:06:05Z</dcterms:created>
  <dcterms:modified xsi:type="dcterms:W3CDTF">2026-04-01T17:06:05Z</dcterms:modified>
</cp:coreProperties>
</file>