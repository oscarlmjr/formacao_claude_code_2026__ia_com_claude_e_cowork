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182880"/>
            <a:ext cx="2011680" cy="2011680"/>
          </a:xfrm>
          <a:prstGeom prst="ellipse">
            <a:avLst/>
          </a:prstGeom>
          <a:solidFill>
            <a:srgbClr val="3B82F6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731520" y="3200400"/>
            <a:ext cx="2286000" cy="2286000"/>
          </a:xfrm>
          <a:prstGeom prst="ellipse">
            <a:avLst/>
          </a:prstGeom>
          <a:solidFill>
            <a:srgbClr val="10B981">
              <a:alpha val="1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914400"/>
            <a:ext cx="1645920" cy="292608"/>
          </a:xfrm>
          <a:prstGeom prst="rect">
            <a:avLst/>
          </a:prstGeom>
          <a:solidFill>
            <a:srgbClr val="8B5CF6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9144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4B5FD"/>
                </a:solidFill>
              </a:rPr>
              <a:t>ANTHROPIC AI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Claude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548640" y="23774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</a:t>
            </a:r>
            <a:pPr indent="0" marL="0">
              <a:buNone/>
            </a:pPr>
            <a:r>
              <a:rPr lang="en-US" sz="2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28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</a:t>
            </a:r>
            <a:pPr indent="0" marL="0">
              <a:buNone/>
            </a:pPr>
            <a:r>
              <a:rPr lang="en-US" sz="2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28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Diferenças, capacidades e aplicabilidades de cada modelo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48691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Claude 4 Model Family  | 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 da Família Claude 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modelos projetados para diferentes necessidades de desempenho e custo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834640" cy="356616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2834640" cy="640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Shape 5"/>
          <p:cNvSpPr/>
          <p:nvPr/>
        </p:nvSpPr>
        <p:spPr>
          <a:xfrm>
            <a:off x="1234440" y="1417320"/>
            <a:ext cx="914400" cy="914400"/>
          </a:xfrm>
          <a:prstGeom prst="ellipse">
            <a:avLst/>
          </a:prstGeom>
          <a:solidFill>
            <a:srgbClr val="8B5CF6">
              <a:alpha val="8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1417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65760" y="24231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31520" y="2880360"/>
            <a:ext cx="1920240" cy="256032"/>
          </a:xfrm>
          <a:prstGeom prst="rect">
            <a:avLst/>
          </a:prstGeom>
          <a:solidFill>
            <a:srgbClr val="8B5CF6">
              <a:alpha val="3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8803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4B5FD"/>
                </a:solidFill>
              </a:rPr>
              <a:t>Máximo Desempenho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324612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mais poderoso. Máxima inteligência para tarefas complexas e de alto valor.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2834640" cy="356616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1234440"/>
            <a:ext cx="283464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4251960" y="1417320"/>
            <a:ext cx="914400" cy="914400"/>
          </a:xfrm>
          <a:prstGeom prst="ellipse">
            <a:avLst/>
          </a:prstGeom>
          <a:solidFill>
            <a:srgbClr val="3B82F6">
              <a:alpha val="8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251960" y="1417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3383280" y="24231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3749040" y="2880360"/>
            <a:ext cx="1920240" cy="256032"/>
          </a:xfrm>
          <a:prstGeom prst="rect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3749040" y="28803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Equilíbrio Ideal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29000" y="324612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Equilíbrio ideal entre inteligência e velocidade. O mais versátil para uso diário.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09360" y="1234440"/>
            <a:ext cx="2834640" cy="356616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09360" y="1234440"/>
            <a:ext cx="283464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Shape 21"/>
          <p:cNvSpPr/>
          <p:nvPr/>
        </p:nvSpPr>
        <p:spPr>
          <a:xfrm>
            <a:off x="7269480" y="1417320"/>
            <a:ext cx="914400" cy="914400"/>
          </a:xfrm>
          <a:prstGeom prst="ellipse">
            <a:avLst/>
          </a:prstGeom>
          <a:solidFill>
            <a:srgbClr val="10B981">
              <a:alpha val="8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269480" y="1417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6400800" y="24231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6766560" y="2880360"/>
            <a:ext cx="1920240" cy="256032"/>
          </a:xfrm>
          <a:prstGeom prst="rect">
            <a:avLst/>
          </a:prstGeom>
          <a:solidFill>
            <a:srgbClr val="10B981">
              <a:alpha val="3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766560" y="28803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EE7B7"/>
                </a:solidFill>
              </a:rPr>
              <a:t>Rápido &amp; Econômico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46520" y="324612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mais rápido e econômico. Perfeito para tarefas simples em tempo real.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108960" y="3017520"/>
            <a:ext cx="1828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6126480" y="3017520"/>
            <a:ext cx="1828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← Mais poderoso                                                    Mais rápido e acessível →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0" y="-457200"/>
            <a:ext cx="3657600" cy="3657600"/>
          </a:xfrm>
          <a:prstGeom prst="ellipse">
            <a:avLst/>
          </a:prstGeom>
          <a:solidFill>
            <a:srgbClr val="8B5CF6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1097280" cy="457200"/>
          </a:xfrm>
          <a:prstGeom prst="rect">
            <a:avLst/>
          </a:prstGeom>
          <a:solidFill>
            <a:srgbClr val="8B5CF6">
              <a:alpha val="8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1371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C4B5FD"/>
                </a:solidFill>
              </a:rPr>
              <a:t>OPUS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" y="68580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Opus 4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228600" y="1280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de Máxima Inteligência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28600" y="1828800"/>
            <a:ext cx="201168" cy="20116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" y="1783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Raciocínio Avançado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21208" y="203911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problemas científicos, matemáticos e filosóficos de alta complexidade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2587752"/>
            <a:ext cx="201168" cy="20116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521208" y="25420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Profunda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1208" y="279806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 nuances, contextos e múltiplas perspectivas com profundidade humana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3346704"/>
            <a:ext cx="201168" cy="20116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521208" y="33009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Criatividade Superior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1208" y="355701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Produz conteúdo criativo sofisticado, narrativas complexas e análises literárias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4105656"/>
            <a:ext cx="201168" cy="20116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521208" y="405993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Tasks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1208" y="431596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 tarefas autônomas longas com múltiplos passos e tomada de decisão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0" y="1691640"/>
            <a:ext cx="3840480" cy="324612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0" y="1691640"/>
            <a:ext cx="3840480" cy="640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3" name="Text 21"/>
          <p:cNvSpPr/>
          <p:nvPr/>
        </p:nvSpPr>
        <p:spPr>
          <a:xfrm>
            <a:off x="5120640" y="18013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 Ideais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166360" y="2240280"/>
            <a:ext cx="128016" cy="12801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5" name="Text 23"/>
          <p:cNvSpPr/>
          <p:nvPr/>
        </p:nvSpPr>
        <p:spPr>
          <a:xfrm>
            <a:off x="5376672" y="22128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Pesquisa científica e análise acadêmica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166360" y="2615184"/>
            <a:ext cx="128016" cy="12801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7" name="Text 25"/>
          <p:cNvSpPr/>
          <p:nvPr/>
        </p:nvSpPr>
        <p:spPr>
          <a:xfrm>
            <a:off x="5376672" y="25877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Estratégia empresarial complexa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166360" y="2990088"/>
            <a:ext cx="128016" cy="12801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9" name="Text 27"/>
          <p:cNvSpPr/>
          <p:nvPr/>
        </p:nvSpPr>
        <p:spPr>
          <a:xfrm>
            <a:off x="5376672" y="296265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Desenvolvimento de software avançado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166360" y="3364992"/>
            <a:ext cx="128016" cy="12801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1" name="Text 29"/>
          <p:cNvSpPr/>
          <p:nvPr/>
        </p:nvSpPr>
        <p:spPr>
          <a:xfrm>
            <a:off x="5376672" y="333756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Análise jurídica e de compliance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166360" y="3739896"/>
            <a:ext cx="128016" cy="12801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3" name="Text 31"/>
          <p:cNvSpPr/>
          <p:nvPr/>
        </p:nvSpPr>
        <p:spPr>
          <a:xfrm>
            <a:off x="5376672" y="371246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Criação de conteúdo especializado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166360" y="4114800"/>
            <a:ext cx="128016" cy="12801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5" name="Text 33"/>
          <p:cNvSpPr/>
          <p:nvPr/>
        </p:nvSpPr>
        <p:spPr>
          <a:xfrm>
            <a:off x="5376672" y="408736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Diagnóstico médico assistido por IA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166360" y="4489704"/>
            <a:ext cx="128016" cy="12801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7" name="Text 35"/>
          <p:cNvSpPr/>
          <p:nvPr/>
        </p:nvSpPr>
        <p:spPr>
          <a:xfrm>
            <a:off x="5376672" y="446227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Tradução e interpretação cultural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0" y="2286000"/>
            <a:ext cx="3200400" cy="3200400"/>
          </a:xfrm>
          <a:prstGeom prst="ellipse">
            <a:avLst/>
          </a:prstGeom>
          <a:solidFill>
            <a:srgbClr val="3B82F6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1280160" cy="457200"/>
          </a:xfrm>
          <a:prstGeom prst="rect">
            <a:avLst/>
          </a:prstGeom>
          <a:solidFill>
            <a:srgbClr val="3B82F6">
              <a:alpha val="8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1371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93C5FD"/>
                </a:solidFill>
              </a:rPr>
              <a:t>SONNET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" y="68580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228600" y="1280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Equilíbrio Perfeito entre Performance e Custo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28600" y="1828800"/>
            <a:ext cx="201168" cy="20116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" y="1783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Velocidade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21208" y="203911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Respostas rápidas sem sacrificar a qualidade ou precisão das análises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2587752"/>
            <a:ext cx="201168" cy="20116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521208" y="25420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Versatilidade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1208" y="279806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Adapta-se a uma ampla gama de tarefas: código, análise, escrita e conversação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3346704"/>
            <a:ext cx="201168" cy="20116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521208" y="33009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Custo-Benefício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1208" y="355701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ROI para a maioria dos casos de uso empresariais e de produção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4105656"/>
            <a:ext cx="201168" cy="20116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521208" y="405993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Longo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1208" y="431596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 documentos extensos e mantém coerência em conversas longas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0" y="1691640"/>
            <a:ext cx="3840480" cy="324612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0" y="1691640"/>
            <a:ext cx="384048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5120640" y="18013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 Ideais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166360" y="2240280"/>
            <a:ext cx="128016" cy="1280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5" name="Text 23"/>
          <p:cNvSpPr/>
          <p:nvPr/>
        </p:nvSpPr>
        <p:spPr>
          <a:xfrm>
            <a:off x="5376672" y="22128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Assistentes virtuais e chatbots empresariais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166360" y="2615184"/>
            <a:ext cx="128016" cy="1280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7" name="Text 25"/>
          <p:cNvSpPr/>
          <p:nvPr/>
        </p:nvSpPr>
        <p:spPr>
          <a:xfrm>
            <a:off x="5376672" y="25877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Geração e revisão de código em produção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166360" y="2990088"/>
            <a:ext cx="128016" cy="1280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9" name="Text 27"/>
          <p:cNvSpPr/>
          <p:nvPr/>
        </p:nvSpPr>
        <p:spPr>
          <a:xfrm>
            <a:off x="5376672" y="296265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Análise e sumarização de documentos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166360" y="3364992"/>
            <a:ext cx="128016" cy="1280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1" name="Text 29"/>
          <p:cNvSpPr/>
          <p:nvPr/>
        </p:nvSpPr>
        <p:spPr>
          <a:xfrm>
            <a:off x="5376672" y="333756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Automação de fluxos de trabalho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166360" y="3739896"/>
            <a:ext cx="128016" cy="1280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3" name="Text 31"/>
          <p:cNvSpPr/>
          <p:nvPr/>
        </p:nvSpPr>
        <p:spPr>
          <a:xfrm>
            <a:off x="5376672" y="371246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Marketing e criação de conteúdo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166360" y="4114800"/>
            <a:ext cx="128016" cy="1280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5" name="Text 33"/>
          <p:cNvSpPr/>
          <p:nvPr/>
        </p:nvSpPr>
        <p:spPr>
          <a:xfrm>
            <a:off x="5376672" y="408736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Suporte ao cliente inteligente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166360" y="4489704"/>
            <a:ext cx="128016" cy="1280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7" name="Text 35"/>
          <p:cNvSpPr/>
          <p:nvPr/>
        </p:nvSpPr>
        <p:spPr>
          <a:xfrm>
            <a:off x="5376672" y="446227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Análise de dados e relatórios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10B981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"/>
            <a:ext cx="1097280" cy="457200"/>
          </a:xfrm>
          <a:prstGeom prst="rect">
            <a:avLst/>
          </a:prstGeom>
          <a:solidFill>
            <a:srgbClr val="10B981">
              <a:alpha val="8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1371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6EE7B7"/>
                </a:solidFill>
              </a:rPr>
              <a:t>HAIKU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" y="68580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Haiku 4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228600" y="1280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Velocidade Máxima para Tarefas do Dia a Dia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28600" y="1828800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" y="1783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Latência Mínima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21208" y="203911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Respostas quase instantâneas, ideal para experiências em tempo real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2587752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521208" y="25420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Custo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1208" y="279806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mais econômico da família, viabilizando alto volume de requisições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3346704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521208" y="33009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Eficiência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1208" y="355701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Otimizado para tarefas concisas e diretas sem overhead desnecessário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4105656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521208" y="405993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1208" y="431596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Suporta milhões de requisições simultâneas com baixo custo operacional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0" y="1691640"/>
            <a:ext cx="3840480" cy="324612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0" y="1691640"/>
            <a:ext cx="384048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5120640" y="18013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 Ideais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166360" y="2240280"/>
            <a:ext cx="128016" cy="12801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5376672" y="22128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Classificação e moderação de conteúdo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166360" y="2615184"/>
            <a:ext cx="128016" cy="12801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5376672" y="25877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Extração de dados estruturados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166360" y="2990088"/>
            <a:ext cx="128016" cy="12801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5376672" y="296265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Respostas rápidas de FAQ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166360" y="3364992"/>
            <a:ext cx="128016" cy="12801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5376672" y="333756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Tradução automática simples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166360" y="3739896"/>
            <a:ext cx="128016" cy="12801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5376672" y="371246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Completar formulários e templates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166360" y="4114800"/>
            <a:ext cx="128016" cy="12801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5" name="Text 33"/>
          <p:cNvSpPr/>
          <p:nvPr/>
        </p:nvSpPr>
        <p:spPr>
          <a:xfrm>
            <a:off x="5376672" y="408736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Resumos rápidos de textos curtos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166360" y="4489704"/>
            <a:ext cx="128016" cy="12801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7" name="Text 35"/>
          <p:cNvSpPr/>
          <p:nvPr/>
        </p:nvSpPr>
        <p:spPr>
          <a:xfrm>
            <a:off x="5376672" y="446227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Triggers em pipelines de dados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 de Características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651760" y="822960"/>
            <a:ext cx="2011680" cy="411480"/>
          </a:xfrm>
          <a:prstGeom prst="rect">
            <a:avLst/>
          </a:prstGeom>
          <a:solidFill>
            <a:srgbClr val="8B5CF6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2651760" y="8229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B5FD"/>
                </a:solidFill>
              </a:rPr>
              <a:t>Opus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822960"/>
            <a:ext cx="2011680" cy="411480"/>
          </a:xfrm>
          <a:prstGeom prst="rect">
            <a:avLst/>
          </a:prstGeom>
          <a:solidFill>
            <a:srgbClr val="3B82F6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8229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Sonnet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0" y="822960"/>
            <a:ext cx="2011680" cy="411480"/>
          </a:xfrm>
          <a:prstGeom prst="rect">
            <a:avLst/>
          </a:prstGeom>
          <a:solidFill>
            <a:srgbClr val="10B981">
              <a:alpha val="8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858000" y="8229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EE7B7"/>
                </a:solidFill>
              </a:rPr>
              <a:t>Haiku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1325880"/>
            <a:ext cx="859536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325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D5E1"/>
                </a:solidFill>
              </a:rPr>
              <a:t>Inteligência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51760" y="13258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B5FD"/>
                </a:solidFill>
              </a:rPr>
              <a:t>★★★★★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13258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</a:rPr>
              <a:t>★★★★☆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0" y="13258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E7B7"/>
                </a:solidFill>
              </a:rPr>
              <a:t>★★★☆☆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1892808"/>
            <a:ext cx="8595360" cy="50292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189280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D5E1"/>
                </a:solidFill>
              </a:rPr>
              <a:t>Velocidade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51760" y="189280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B5FD"/>
                </a:solidFill>
              </a:rPr>
              <a:t>★★☆☆☆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189280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</a:rPr>
              <a:t>★★★★☆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0" y="189280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E7B7"/>
                </a:solidFill>
              </a:rPr>
              <a:t>★★★★★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2459736"/>
            <a:ext cx="859536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2459736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D5E1"/>
                </a:solidFill>
              </a:rPr>
              <a:t>Contexto (tokens)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651760" y="245973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B5FD"/>
                </a:solidFill>
              </a:rPr>
              <a:t>200K+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245973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</a:rPr>
              <a:t>200K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0" y="245973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E7B7"/>
                </a:solidFill>
              </a:rPr>
              <a:t>200K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026664"/>
            <a:ext cx="8595360" cy="50292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302666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D5E1"/>
                </a:solidFill>
              </a:rPr>
              <a:t>Custo relativo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651760" y="302666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B5FD"/>
                </a:solidFill>
              </a:rPr>
              <a:t>Alto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0" y="302666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</a:rPr>
              <a:t>Médio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58000" y="302666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E7B7"/>
                </a:solidFill>
              </a:rPr>
              <a:t>Baixo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3593592"/>
            <a:ext cx="859536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359359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D5E1"/>
                </a:solidFill>
              </a:rPr>
              <a:t>Raciocínio complexo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651760" y="359359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B5FD"/>
                </a:solidFill>
              </a:rPr>
              <a:t>Excepcional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54880" y="359359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</a:rPr>
              <a:t>Muito bom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58000" y="359359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E7B7"/>
                </a:solidFill>
              </a:rPr>
              <a:t>Básico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4320" y="4160520"/>
            <a:ext cx="8595360" cy="50292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36" name="Text 34"/>
          <p:cNvSpPr/>
          <p:nvPr/>
        </p:nvSpPr>
        <p:spPr>
          <a:xfrm>
            <a:off x="365760" y="41605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D5E1"/>
                </a:solidFill>
              </a:rPr>
              <a:t>Ideal para produção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651760" y="41605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B5FD"/>
                </a:solidFill>
              </a:rPr>
              <a:t>Alta demanda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754880" y="41605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</a:rPr>
              <a:t>Maioria dos casos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858000" y="41605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E7B7"/>
                </a:solidFill>
              </a:rPr>
              <a:t>Alto volume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Escolher o Modelo Certo?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 de decisão baseado nas necessidades do seu projeto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834640" cy="379476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2834640" cy="640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097280"/>
            <a:ext cx="2834640" cy="457200"/>
          </a:xfrm>
          <a:prstGeom prst="rect">
            <a:avLst/>
          </a:prstGeom>
          <a:solidFill>
            <a:srgbClr val="8B5CF6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097280"/>
            <a:ext cx="265176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Opus quando...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1837944"/>
            <a:ext cx="128016" cy="12801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1728216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precisão é crítica (medicina, direito, finanças)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404872"/>
            <a:ext cx="128016" cy="12801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" y="2295144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tarefa exige raciocínio em múltiplos passos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2971800"/>
            <a:ext cx="128016" cy="12801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" y="286207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precisa de criatividade de alto nível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3538728"/>
            <a:ext cx="128016" cy="12801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" y="34290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 é secundário à qualidade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4105656"/>
            <a:ext cx="128016" cy="12801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" y="399592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 de agentes autônomos complexos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46120" y="1097280"/>
            <a:ext cx="2834640" cy="379476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46120" y="1097280"/>
            <a:ext cx="283464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Shape 19"/>
          <p:cNvSpPr/>
          <p:nvPr/>
        </p:nvSpPr>
        <p:spPr>
          <a:xfrm>
            <a:off x="3246120" y="1097280"/>
            <a:ext cx="2834640" cy="457200"/>
          </a:xfrm>
          <a:prstGeom prst="rect">
            <a:avLst/>
          </a:prstGeom>
          <a:solidFill>
            <a:srgbClr val="3B82F6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3337560" y="1097280"/>
            <a:ext cx="265176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Sonnet quando...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83280" y="1837944"/>
            <a:ext cx="128016" cy="12801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3584448" y="1728216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quer o melhor equilíbrio custo/performance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83280" y="2404872"/>
            <a:ext cx="128016" cy="12801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3584448" y="2295144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empresariais de médio volume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383280" y="2971800"/>
            <a:ext cx="128016" cy="12801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8" name="Text 26"/>
          <p:cNvSpPr/>
          <p:nvPr/>
        </p:nvSpPr>
        <p:spPr>
          <a:xfrm>
            <a:off x="3584448" y="286207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código e desenvolvimento ágil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83280" y="3538728"/>
            <a:ext cx="128016" cy="12801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0" name="Text 28"/>
          <p:cNvSpPr/>
          <p:nvPr/>
        </p:nvSpPr>
        <p:spPr>
          <a:xfrm>
            <a:off x="3584448" y="34290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 com conversas estruturadas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383280" y="4105656"/>
            <a:ext cx="128016" cy="12801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2" name="Text 30"/>
          <p:cNvSpPr/>
          <p:nvPr/>
        </p:nvSpPr>
        <p:spPr>
          <a:xfrm>
            <a:off x="3584448" y="399592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maioria dos casos de uso em produção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17920" y="1097280"/>
            <a:ext cx="2834640" cy="379476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217920" y="1097280"/>
            <a:ext cx="283464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5" name="Shape 33"/>
          <p:cNvSpPr/>
          <p:nvPr/>
        </p:nvSpPr>
        <p:spPr>
          <a:xfrm>
            <a:off x="6217920" y="1097280"/>
            <a:ext cx="2834640" cy="457200"/>
          </a:xfrm>
          <a:prstGeom prst="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309360" y="1097280"/>
            <a:ext cx="265176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Haiku quando...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355080" y="1837944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8" name="Text 36"/>
          <p:cNvSpPr/>
          <p:nvPr/>
        </p:nvSpPr>
        <p:spPr>
          <a:xfrm>
            <a:off x="6556248" y="1728216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muito alto de requisições simples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355080" y="2404872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0" name="Text 38"/>
          <p:cNvSpPr/>
          <p:nvPr/>
        </p:nvSpPr>
        <p:spPr>
          <a:xfrm>
            <a:off x="6556248" y="2295144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Latência é o fator mais importante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355080" y="2971800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2" name="Text 40"/>
          <p:cNvSpPr/>
          <p:nvPr/>
        </p:nvSpPr>
        <p:spPr>
          <a:xfrm>
            <a:off x="6556248" y="286207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Orçamento limitado para IA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355080" y="3538728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4" name="Text 42"/>
          <p:cNvSpPr/>
          <p:nvPr/>
        </p:nvSpPr>
        <p:spPr>
          <a:xfrm>
            <a:off x="6556248" y="34290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 simples e bem definidas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355080" y="4105656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6" name="Text 44"/>
          <p:cNvSpPr/>
          <p:nvPr/>
        </p:nvSpPr>
        <p:spPr>
          <a:xfrm>
            <a:off x="6556248" y="399592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de dados automatizados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-457200"/>
            <a:ext cx="3200400" cy="320040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2743200"/>
            <a:ext cx="2743200" cy="2743200"/>
          </a:xfrm>
          <a:prstGeom prst="ellipse">
            <a:avLst/>
          </a:prstGeom>
          <a:solidFill>
            <a:srgbClr val="10B981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6400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Escolha Certa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14400" y="1371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Desafio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1371600" y="2286000"/>
            <a:ext cx="1645920" cy="1645920"/>
          </a:xfrm>
          <a:prstGeom prst="ellipse">
            <a:avLst/>
          </a:prstGeom>
          <a:solidFill>
            <a:srgbClr val="8B5CF6">
              <a:alpha val="75000"/>
            </a:srgbClr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228600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4023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Máxima Inteligência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40480" y="2286000"/>
            <a:ext cx="1645920" cy="1645920"/>
          </a:xfrm>
          <a:prstGeom prst="ellipse">
            <a:avLst/>
          </a:prstGeom>
          <a:solidFill>
            <a:srgbClr val="3B82F6">
              <a:alpha val="75000"/>
            </a:srgbClr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0" y="228600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0" y="4023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Equilíbrio Ideal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309360" y="2286000"/>
            <a:ext cx="1645920" cy="1645920"/>
          </a:xfrm>
          <a:prstGeom prst="ellipse">
            <a:avLst/>
          </a:prstGeom>
          <a:solidFill>
            <a:srgbClr val="10B981">
              <a:alpha val="7500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228600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26480" y="4023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Velocidade Máxima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Anthropic  |  claude.ai  |  api.anthropic.com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Modelos Claude - Opus, Sonnet e Haiku</dc:title>
  <dc:subject>PptxGenJS Presentation</dc:subject>
  <dc:creator>PptxGenJS</dc:creator>
  <cp:lastModifiedBy>PptxGenJS</cp:lastModifiedBy>
  <cp:revision>1</cp:revision>
  <dcterms:created xsi:type="dcterms:W3CDTF">2026-04-01T02:45:51Z</dcterms:created>
  <dcterms:modified xsi:type="dcterms:W3CDTF">2026-04-01T02:45:51Z</dcterms:modified>
</cp:coreProperties>
</file>