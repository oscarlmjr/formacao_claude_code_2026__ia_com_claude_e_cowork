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Ecossistema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Cowork e Code: tres superficies, uma inteligencia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4114800"/>
            <a:ext cx="1005840" cy="320040"/>
          </a:xfrm>
          <a:prstGeom prst="rect">
            <a:avLst>
              <a:gd name="adj" fmla="val 22857"/>
            </a:avLst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28800" y="4114800"/>
            <a:ext cx="1188720" cy="320040"/>
          </a:xfrm>
          <a:prstGeom prst="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18288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4114800"/>
            <a:ext cx="1005840" cy="320040"/>
          </a:xfrm>
          <a:prstGeom prst="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IA, Tres Experiencias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Claude esta disponivel em tres superficies complementares, cada uma otimizada para um tipo diferente de trabalho e usuario.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6060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691640"/>
            <a:ext cx="822960" cy="822960"/>
          </a:xfrm>
          <a:prstGeom prst="ellipse">
            <a:avLst/>
          </a:prstGeom>
          <a:solidFill>
            <a:srgbClr val="F3F0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Chat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3017520"/>
            <a:ext cx="1691640" cy="274320"/>
          </a:xfrm>
          <a:prstGeom prst="rect">
            <a:avLst>
              <a:gd name="adj" fmla="val 20000"/>
            </a:avLst>
          </a:prstGeom>
          <a:solidFill>
            <a:srgbClr val="F3F0FF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usuarios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conversacional para todos. Projetos, artefatos, memoria e ferramentas visuais.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0" y="14630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46304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4343400" y="1691640"/>
            <a:ext cx="822960" cy="822960"/>
          </a:xfrm>
          <a:prstGeom prst="ellipse">
            <a:avLst/>
          </a:prstGeom>
          <a:solidFill>
            <a:srgbClr val="FFF7E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931920" y="3017520"/>
            <a:ext cx="1691640" cy="274320"/>
          </a:xfrm>
          <a:prstGeom prst="rect">
            <a:avLst>
              <a:gd name="adj" fmla="val 20000"/>
            </a:avLst>
          </a:prstGeom>
          <a:solidFill>
            <a:srgbClr val="FFF7ED"/>
          </a:solidFill>
          <a:ln/>
        </p:spPr>
      </p:sp>
      <p:sp>
        <p:nvSpPr>
          <p:cNvPr id="19" name="Text 15"/>
          <p:cNvSpPr/>
          <p:nvPr/>
        </p:nvSpPr>
        <p:spPr>
          <a:xfrm>
            <a:off x="393192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e equipes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1188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desktop para trabalho de conhecimento. Executa tarefas multi-passo com acesso a arquivos e conectores.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309360" y="146304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09360" y="1463040"/>
            <a:ext cx="26060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19"/>
          <p:cNvSpPr/>
          <p:nvPr/>
        </p:nvSpPr>
        <p:spPr>
          <a:xfrm>
            <a:off x="7178040" y="1691640"/>
            <a:ext cx="822960" cy="82296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745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46520" y="2651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6766560" y="3017520"/>
            <a:ext cx="1691640" cy="274320"/>
          </a:xfrm>
          <a:prstGeom prst="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27" name="Text 22"/>
          <p:cNvSpPr/>
          <p:nvPr/>
        </p:nvSpPr>
        <p:spPr>
          <a:xfrm>
            <a:off x="6766560" y="3017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Desenvolvedores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4652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agentica de coding no terminal. Entende codebases inteiros e executa tarefas de desenvolvimento.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5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Compartilhada: Modelos Claude (Opus 4.6, Sonnet 4.6, Haiku 4.5)  |  MCP  |  Skills  |  Plugins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Chat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78638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conversacional mais acessivel do ecossistema. Disponivel na web, mobile e desktop para todos os usuarios.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codigo, docs, visualizacoes e apps interativos no painel lateral, com preview ao vivo.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documentos, instrucoes e conversas em um workspace persistente e contextualizado.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lembra informacoes de conversas anteriores e aplica automaticamente em sessoes futuras.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6324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Visualizacoes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Graficos, diagramas e charts inline nas respostas. Suporte a Mermaid, React e SVG.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474720" y="306324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004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Integrado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61188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Slack, Asana, Jira, Google Drive e centenas de servicos via Model Context Protocol.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309360" y="3063240"/>
            <a:ext cx="2606040" cy="1234440"/>
          </a:xfrm>
          <a:prstGeom prst="rect">
            <a:avLst/>
          </a:prstGeom>
          <a:solidFill>
            <a:srgbClr val="F3F0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1228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Multi-plataforma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4652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via web (claude.ai), app mobile (iOS/Android) e desktop (macOS/Windows).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solidFill>
            <a:srgbClr val="F3F0FF"/>
          </a:solidFill>
          <a:ln/>
        </p:spPr>
      </p:sp>
      <p:sp>
        <p:nvSpPr>
          <p:cNvPr id="32" name="Text 24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Disponivel para todos: Free, Pro, Max, Team e Enterprise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7863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poder do Claude Code para quem nao e desenvolvedor. Executa tarefas complexas no desktop com acesso a arquivos reais.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Arquivos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Leia, crie e modifique arquivos diretamente no seu computador em uma pasta selecionada.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Multi-Passo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resultado desejado e Claude executa todos os passos necessarios automaticamente.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Agendadas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tarefas para execucao automatica — algo impossivel no Chat convencional.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6324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 Plugins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skills personalizadas e plugins para expandir as capacidades do Claude.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474720" y="306324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004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MCP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61188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Gmail, DocuSign, Slack e dezenas de integracoes enterprise prontas.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309360" y="3063240"/>
            <a:ext cx="2606040" cy="1234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1228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4652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cada passo em tempo real, interfira e redirecione quando necessario.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2" name="Text 24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Disponivel no Desktop (macOS e Windows) para planos Pro, Max, Team e Enterprise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78638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agentica de coding que vive no seu terminal. Entende codebases inteiros e executa tarefas de desenvolvimento.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Nativo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direto no terminal, VS Code, JetBrains. Instale com um comando: curl -fsSL https://get.claude.ai | sh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830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1M Tokens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 monorepos inteiros, dependencias cross-file e efeitos colaterais.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1488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Spawne agentes paralelos para tarefas isoladas com contexto especializado e multi-modelo.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06324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7724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Intercepte eventos (PreToolUse, PostToolUse) para automacao: lint, testes, CI/CD automatico.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474720" y="306324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004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7764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61188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dev servers e processos longos em background enquanto continua desenvolvendo.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309360" y="3063240"/>
            <a:ext cx="2606040" cy="12344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12280" y="3172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Multi-Superficie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446520" y="35661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VS Code, JetBrains, Desktop, Web e iOS. Transfira sessoes entre dispositivos com /teleport.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2" name="Text 24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Disponivel via CLI, IDEs e web para desenvolvedores em planos Pro, Max, Team e Enterprise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Comparativo: Chat vs Cowork vs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960120"/>
            <a:ext cx="20116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960120"/>
            <a:ext cx="20116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960120"/>
            <a:ext cx="1371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960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1417320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417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Publico-alvo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804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1764792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17647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/ Desktop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480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1764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/ IDE / Web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112264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1122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arquivos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88920" y="2112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manual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2112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local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112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inteiro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459736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459736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 de codigo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2459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(sandbox)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3480" y="24597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Linux sandbox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2459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2807208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2807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multi-passo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8892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por turno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2807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3154680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88920" y="3154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3154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7804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(paralelos)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3502152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502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agendadas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88920" y="3502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3502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8040" y="3502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CI/CD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3849624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3849624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 Plugins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88920" y="38496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83480" y="38496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78040" y="3849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4197096"/>
            <a:ext cx="786384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1970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88920" y="4197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(limitado)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83480" y="41970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(completo)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4197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(completo)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" y="4544568"/>
            <a:ext cx="7863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" y="4544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e automacao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88920" y="4544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83480" y="4544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78040" y="4544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4" name="Text 62"/>
          <p:cNvSpPr/>
          <p:nvPr/>
        </p:nvSpPr>
        <p:spPr>
          <a:xfrm>
            <a:off x="822960" y="4709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compartilham os mesmos modelos, MCP e base de conhecimento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 (MCP)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144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9601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MCP e um protocolo aberto que conecta o Claude a ferramentas e servicos externos. E a base que permite ao Chat, Cowork e Code acessarem dados reais do mundo do usuario.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Conectores Disponiveis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6888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Gmail, Google Calendar, Notion, Confluence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74720" y="237744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46888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Linear, Sentry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09360" y="237744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Comunicacao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Discord, Teams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40080" y="34747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6616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Vendas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3886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HubSpot, Apollo, Clay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474720" y="34747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5661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66160" y="3886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FactSet, Stripe, QuickBooks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309360" y="3474720"/>
            <a:ext cx="260604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5661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400800" y="3886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DocuSign, Box, Dropbox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4" name="Text 26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MCP UI Framework — servidores MCP agora podem renderizar interfaces graficas interativas dentro do chat!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e Plugins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3749040" cy="7315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43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SKILL.md que ensinam o Claude a realizar tarefas especificas com alta qualidade e consistencia.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9397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automatico por contexto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1401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saida padronizado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34056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embutidos (scripts, refs)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54096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com o Skill Creator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754880" y="96012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960120"/>
            <a:ext cx="374904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14300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Plugins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493776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instaláveis que combinam MCPs, skills e ferramentas. Distribua capacidades completas em um clique.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093976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de MCPs + Skills + Tools</a:t>
            </a:r>
            <a:endParaRPr lang="en-US" sz="10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414016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privados (Enterprise)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734056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1208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pre-construidos por setor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054096"/>
            <a:ext cx="164592" cy="1645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120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Personalizaveis por organizacao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Disponibilidade</a:t>
            </a:r>
            <a:endParaRPr lang="en-US" sz="1600" dirty="0"/>
          </a:p>
        </p:txBody>
      </p:sp>
      <p:sp>
        <p:nvSpPr>
          <p:cNvPr id="32" name="Shape 20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21"/>
          <p:cNvSpPr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29260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35" name="Text 23"/>
          <p:cNvSpPr/>
          <p:nvPr/>
        </p:nvSpPr>
        <p:spPr>
          <a:xfrm>
            <a:off x="47548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000" dirty="0"/>
          </a:p>
        </p:txBody>
      </p:sp>
      <p:sp>
        <p:nvSpPr>
          <p:cNvPr id="36" name="Text 24"/>
          <p:cNvSpPr/>
          <p:nvPr/>
        </p:nvSpPr>
        <p:spPr>
          <a:xfrm>
            <a:off x="66751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26"/>
          <p:cNvSpPr/>
          <p:nvPr/>
        </p:nvSpPr>
        <p:spPr>
          <a:xfrm>
            <a:off x="64008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292608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475488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658368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640080" y="4800600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1"/>
          <p:cNvSpPr/>
          <p:nvPr/>
        </p:nvSpPr>
        <p:spPr>
          <a:xfrm>
            <a:off x="64008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1000" dirty="0"/>
          </a:p>
        </p:txBody>
      </p:sp>
      <p:sp>
        <p:nvSpPr>
          <p:cNvPr id="44" name="Text 32"/>
          <p:cNvSpPr/>
          <p:nvPr/>
        </p:nvSpPr>
        <p:spPr>
          <a:xfrm>
            <a:off x="292608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475488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658368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Modelos Claude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produtos compartilham os mesmos modelos de IA, com capacidades complementares.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06040" cy="2834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Opus 4.6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mais poderoso. Raciocinio profundo, tarefas complexas, coding agentico. Extended Thinking adaptativo.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3552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012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Raciocinio mais avancado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4787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3520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para tarefas complexas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2219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e PowerPoint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74720" y="1463040"/>
            <a:ext cx="2606040" cy="2834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74720" y="1463040"/>
            <a:ext cx="26060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6"/>
          <p:cNvSpPr/>
          <p:nvPr/>
        </p:nvSpPr>
        <p:spPr>
          <a:xfrm>
            <a:off x="356616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/>
          <p:nvPr/>
        </p:nvSpPr>
        <p:spPr>
          <a:xfrm>
            <a:off x="356616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56616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4.6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566160" y="22860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Fevereiro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566160" y="2560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ideal entre velocidade e inteligencia. Excelente para tarefas do dia a dia e coding.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73552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9476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Rapido e inteligente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547872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94760" y="3520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produtividade</a:t>
            </a:r>
            <a:endParaRPr lang="en-US" sz="10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822192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79476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Otimo custo-beneficio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309360" y="1463040"/>
            <a:ext cx="2606040" cy="2834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309360" y="1463040"/>
            <a:ext cx="26060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0" y="1645920"/>
            <a:ext cx="1097280" cy="256032"/>
          </a:xfrm>
          <a:prstGeom prst="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6400800" y="1965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Haiku 4.5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400800" y="228600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 2025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400800" y="2560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Ultra-rapido e eficiente. Ideal para classificacao, triagem e tarefas simples em alta escala.</a:t>
            </a:r>
            <a:endParaRPr lang="en-US" sz="10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273552"/>
            <a:ext cx="164592" cy="16459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2940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latencia</a:t>
            </a:r>
            <a:endParaRPr lang="en-US" sz="10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547872"/>
            <a:ext cx="164592" cy="16459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629400" y="3520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custo</a:t>
            </a:r>
            <a:endParaRPr lang="en-US" sz="1000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822192"/>
            <a:ext cx="164592" cy="16459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629400" y="3794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automacoes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6" name="Text 35"/>
          <p:cNvSpPr/>
          <p:nvPr/>
        </p:nvSpPr>
        <p:spPr>
          <a:xfrm>
            <a:off x="82296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(Raciocinio Adaptativo): aloca tokens de raciocinio dinamicamente. Perguntas simples recebem respostas instantaneas; problemas complexos ativam milhares de tokens de pensamento.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Evolucao do Ecossistema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0" y="1280160"/>
            <a:ext cx="36576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1709928" y="10515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96012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9601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978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20700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Lancamento da ferramenta agentica de coding no terminal.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1874520"/>
            <a:ext cx="36576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9928" y="164592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600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155448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155448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1572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 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180136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disponivel para todos. Receita cresce 5.5x.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2468880"/>
            <a:ext cx="36576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709928" y="22402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194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14884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0" y="214884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167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239572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em coding e tarefas de escritorio.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3063240"/>
            <a:ext cx="36576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1709928" y="28346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274320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0" y="274320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2761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Launch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14600" y="299008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para nao-devs. Construido por vibe coding em 2 semanas.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0" y="3657600"/>
            <a:ext cx="36576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1709928" y="34290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0" y="333756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0" y="33375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355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14600" y="358444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teams, plugins enterprise e marketplace.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709928" y="40233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977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2026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931920"/>
            <a:ext cx="6217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286000" y="393192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3950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Enterprise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514600" y="4178808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Conectores, plugins e marketplaces corporativos.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2025 Claude transformou como devs trabalham; em 2026, fara o mesmo para todo trabalho de conhecimento."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Usar Cada Produto?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26060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2423160" cy="502920"/>
          </a:xfrm>
          <a:prstGeom prst="rect">
            <a:avLst/>
          </a:prstGeom>
          <a:solidFill>
            <a:srgbClr val="F3F0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8249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rapidas e brainstorming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148840"/>
            <a:ext cx="2423160" cy="502920"/>
          </a:xfrm>
          <a:prstGeom prst="rect">
            <a:avLst/>
          </a:prstGeom>
          <a:solidFill>
            <a:srgbClr val="F3F0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7685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artefatos visuais (React, HTML, SVG)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743200"/>
            <a:ext cx="2423160" cy="502920"/>
          </a:xfrm>
          <a:prstGeom prst="rect">
            <a:avLst/>
          </a:prstGeom>
          <a:solidFill>
            <a:srgbClr val="F3F0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87121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documentos via upload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3337560"/>
            <a:ext cx="2423160" cy="502920"/>
          </a:xfrm>
          <a:prstGeom prst="rect">
            <a:avLst/>
          </a:prstGeom>
          <a:solidFill>
            <a:srgbClr val="F3F0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65576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Colaboracao em Projetos persistentes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1520" y="3931920"/>
            <a:ext cx="2423160" cy="502920"/>
          </a:xfrm>
          <a:prstGeom prst="rect">
            <a:avLst/>
          </a:prstGeom>
          <a:solidFill>
            <a:srgbClr val="F3F0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05993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mobile em qualquer lugar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474720" y="96012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474720" y="960120"/>
            <a:ext cx="2606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18"/>
          <p:cNvSpPr/>
          <p:nvPr/>
        </p:nvSpPr>
        <p:spPr>
          <a:xfrm>
            <a:off x="347472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3566160" y="1554480"/>
            <a:ext cx="2423160" cy="5029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168249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8620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documentos complexos (DOCX, PPTX, XLSX)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566160" y="2148840"/>
            <a:ext cx="2423160" cy="5029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9312" y="227685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88620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 processar arquivos locais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566160" y="2743200"/>
            <a:ext cx="2423160" cy="5029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9312" y="287121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8862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agendadas e automatizadas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566160" y="3337560"/>
            <a:ext cx="2423160" cy="5029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9312" y="346557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88620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com ferramentas corporativas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3566160" y="3931920"/>
            <a:ext cx="2423160" cy="5029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9312" y="4059936"/>
            <a:ext cx="182880" cy="18288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8862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multi-passo sem codigo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6309360" y="960120"/>
            <a:ext cx="2606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309360" y="960120"/>
            <a:ext cx="2606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31"/>
          <p:cNvSpPr/>
          <p:nvPr/>
        </p:nvSpPr>
        <p:spPr>
          <a:xfrm>
            <a:off x="630936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600" dirty="0"/>
          </a:p>
        </p:txBody>
      </p:sp>
      <p:sp>
        <p:nvSpPr>
          <p:cNvPr id="44" name="Shape 32"/>
          <p:cNvSpPr/>
          <p:nvPr/>
        </p:nvSpPr>
        <p:spPr>
          <a:xfrm>
            <a:off x="6400800" y="1554480"/>
            <a:ext cx="2423160" cy="50292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952" y="1682496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72084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features e corrigir bugs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400800" y="2148840"/>
            <a:ext cx="2423160" cy="50292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952" y="2276856"/>
            <a:ext cx="182880" cy="18288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7208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codebases inteiros</a:t>
            </a:r>
            <a:endParaRPr lang="en-US" sz="1000" dirty="0"/>
          </a:p>
        </p:txBody>
      </p:sp>
      <p:sp>
        <p:nvSpPr>
          <p:cNvPr id="50" name="Shape 36"/>
          <p:cNvSpPr/>
          <p:nvPr/>
        </p:nvSpPr>
        <p:spPr>
          <a:xfrm>
            <a:off x="6400800" y="2743200"/>
            <a:ext cx="2423160" cy="50292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3952" y="2871216"/>
            <a:ext cx="182880" cy="18288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7208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pipelines de CI/CD</a:t>
            </a:r>
            <a:endParaRPr lang="en-US" sz="1000" dirty="0"/>
          </a:p>
        </p:txBody>
      </p:sp>
      <p:sp>
        <p:nvSpPr>
          <p:cNvPr id="53" name="Shape 38"/>
          <p:cNvSpPr/>
          <p:nvPr/>
        </p:nvSpPr>
        <p:spPr>
          <a:xfrm>
            <a:off x="6400800" y="3337560"/>
            <a:ext cx="2423160" cy="50292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3952" y="3465576"/>
            <a:ext cx="182880" cy="18288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672084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Subagentes paralelos para tarefas complexas</a:t>
            </a:r>
            <a:endParaRPr lang="en-US" sz="1000" dirty="0"/>
          </a:p>
        </p:txBody>
      </p:sp>
      <p:sp>
        <p:nvSpPr>
          <p:cNvPr id="56" name="Shape 40"/>
          <p:cNvSpPr/>
          <p:nvPr/>
        </p:nvSpPr>
        <p:spPr>
          <a:xfrm>
            <a:off x="6400800" y="3931920"/>
            <a:ext cx="2423160" cy="50292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5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3952" y="4059936"/>
            <a:ext cx="182880" cy="18288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672084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e automacoes de desenvolvimento</a:t>
            </a:r>
            <a:endParaRPr lang="en-US" sz="1000" dirty="0"/>
          </a:p>
        </p:txBody>
      </p:sp>
      <p:sp>
        <p:nvSpPr>
          <p:cNvPr id="59" name="Shape 42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0" name="Text 43"/>
          <p:cNvSpPr/>
          <p:nvPr/>
        </p:nvSpPr>
        <p:spPr>
          <a:xfrm>
            <a:off x="822960" y="4800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tres produtos sao complementares — use cada um para o que faz melhor!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3657600"/>
            <a:ext cx="1828800" cy="18288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Ecossistema,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Infinitas Possibilidades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chat casual ao codigo de producao, o Claude esta em todas as etapas do seu trabalho.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31920" y="3611880"/>
            <a:ext cx="1280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2743200" y="3840480"/>
            <a:ext cx="1005840" cy="365760"/>
          </a:xfrm>
          <a:prstGeom prst="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931920" y="3840480"/>
            <a:ext cx="1280160" cy="365760"/>
          </a:xfrm>
          <a:prstGeom prst="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394960" y="3840480"/>
            <a:ext cx="1005840" cy="365760"/>
          </a:xfrm>
          <a:prstGeom prst="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53949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Ecossistema Claude - Chat, Cowork e Code</dc:title>
  <dc:subject>PptxGenJS Presentation</dc:subject>
  <dc:creator>Claude</dc:creator>
  <cp:lastModifiedBy>Claude</cp:lastModifiedBy>
  <cp:revision>1</cp:revision>
  <dcterms:created xsi:type="dcterms:W3CDTF">2026-03-17T12:27:56Z</dcterms:created>
  <dcterms:modified xsi:type="dcterms:W3CDTF">2026-03-17T12:27:56Z</dcterms:modified>
</cp:coreProperties>
</file>