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F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457200"/>
            <a:ext cx="6400800" cy="6400800"/>
          </a:xfrm>
          <a:prstGeom prst="oval">
            <a:avLst/>
          </a:prstGeom>
          <a:solidFill>
            <a:srgbClr val="1A1A3D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029200" y="-914400"/>
            <a:ext cx="5029200" cy="5029200"/>
          </a:xfrm>
          <a:prstGeom prst="oval">
            <a:avLst/>
          </a:prstGeom>
          <a:solidFill>
            <a:srgbClr val="7C4DFF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371600" y="3200400"/>
            <a:ext cx="3657600" cy="3657600"/>
          </a:xfrm>
          <a:prstGeom prst="oval">
            <a:avLst/>
          </a:prstGeom>
          <a:solidFill>
            <a:srgbClr val="26A69A">
              <a:alpha val="1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4DFF"/>
          </a:solidFill>
          <a:ln/>
        </p:spPr>
      </p:sp>
      <p:sp>
        <p:nvSpPr>
          <p:cNvPr id="6" name="Shape 4"/>
          <p:cNvSpPr/>
          <p:nvPr/>
        </p:nvSpPr>
        <p:spPr>
          <a:xfrm>
            <a:off x="2926080" y="457200"/>
            <a:ext cx="3291840" cy="365760"/>
          </a:xfrm>
          <a:prstGeom prst="roundRect">
            <a:avLst>
              <a:gd name="adj" fmla="val 20000"/>
            </a:avLst>
          </a:prstGeom>
          <a:solidFill>
            <a:srgbClr val="F96167"/>
          </a:solidFill>
          <a:ln/>
        </p:spPr>
      </p:sp>
      <p:sp>
        <p:nvSpPr>
          <p:cNvPr id="7" name="Text 5"/>
          <p:cNvSpPr/>
          <p:nvPr/>
        </p:nvSpPr>
        <p:spPr>
          <a:xfrm>
            <a:off x="2926080" y="4572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 · SKILLS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10972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 que usar Skills?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914400" y="20116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CAF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Vantagens &amp; Casos de Uso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371600" y="274320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Entenda como Skills tornam agentes de IA mais confiáveis,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previsíveis e fáceis de manter em produção.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62356" y="3657600"/>
            <a:ext cx="1051560" cy="594360"/>
          </a:xfrm>
          <a:prstGeom prst="roundRect">
            <a:avLst>
              <a:gd name="adj" fmla="val 9231"/>
            </a:avLst>
          </a:prstGeom>
          <a:solidFill>
            <a:srgbClr val="1E1E3A"/>
          </a:solidFill>
          <a:ln w="6350">
            <a:solidFill>
              <a:srgbClr val="3A3A5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96696" y="3721608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7C4DFF"/>
          </a:solidFill>
          <a:ln/>
        </p:spPr>
      </p:sp>
      <p:sp>
        <p:nvSpPr>
          <p:cNvPr id="13" name="Text 11"/>
          <p:cNvSpPr/>
          <p:nvPr/>
        </p:nvSpPr>
        <p:spPr>
          <a:xfrm>
            <a:off x="562356" y="393192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1723644" y="3657600"/>
            <a:ext cx="1051560" cy="594360"/>
          </a:xfrm>
          <a:prstGeom prst="roundRect">
            <a:avLst>
              <a:gd name="adj" fmla="val 9231"/>
            </a:avLst>
          </a:prstGeom>
          <a:solidFill>
            <a:srgbClr val="1E1E3A"/>
          </a:solidFill>
          <a:ln w="6350">
            <a:solidFill>
              <a:srgbClr val="3A3A5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157984" y="3721608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5C6BC0"/>
          </a:solidFill>
          <a:ln/>
        </p:spPr>
      </p:sp>
      <p:sp>
        <p:nvSpPr>
          <p:cNvPr id="16" name="Text 14"/>
          <p:cNvSpPr/>
          <p:nvPr/>
        </p:nvSpPr>
        <p:spPr>
          <a:xfrm>
            <a:off x="1723644" y="393192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Skill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884932" y="3657600"/>
            <a:ext cx="1051560" cy="594360"/>
          </a:xfrm>
          <a:prstGeom prst="roundRect">
            <a:avLst>
              <a:gd name="adj" fmla="val 9231"/>
            </a:avLst>
          </a:prstGeom>
          <a:solidFill>
            <a:srgbClr val="1E1E3A"/>
          </a:solidFill>
          <a:ln w="6350">
            <a:solidFill>
              <a:srgbClr val="3A3A5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319272" y="3721608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4CAF50"/>
          </a:solidFill>
          <a:ln/>
        </p:spPr>
      </p:sp>
      <p:sp>
        <p:nvSpPr>
          <p:cNvPr id="19" name="Text 17"/>
          <p:cNvSpPr/>
          <p:nvPr/>
        </p:nvSpPr>
        <p:spPr>
          <a:xfrm>
            <a:off x="2884932" y="393192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Vantagens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046220" y="3657600"/>
            <a:ext cx="1051560" cy="594360"/>
          </a:xfrm>
          <a:prstGeom prst="roundRect">
            <a:avLst>
              <a:gd name="adj" fmla="val 9231"/>
            </a:avLst>
          </a:prstGeom>
          <a:solidFill>
            <a:srgbClr val="1E1E3A"/>
          </a:solidFill>
          <a:ln w="6350">
            <a:solidFill>
              <a:srgbClr val="3A3A5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480560" y="3721608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00BCD4"/>
          </a:solidFill>
          <a:ln/>
        </p:spPr>
      </p:sp>
      <p:sp>
        <p:nvSpPr>
          <p:cNvPr id="22" name="Text 20"/>
          <p:cNvSpPr/>
          <p:nvPr/>
        </p:nvSpPr>
        <p:spPr>
          <a:xfrm>
            <a:off x="4046220" y="393192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Anatomia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5207508" y="3657600"/>
            <a:ext cx="1051560" cy="594360"/>
          </a:xfrm>
          <a:prstGeom prst="roundRect">
            <a:avLst>
              <a:gd name="adj" fmla="val 9231"/>
            </a:avLst>
          </a:prstGeom>
          <a:solidFill>
            <a:srgbClr val="1E1E3A"/>
          </a:solidFill>
          <a:ln w="6350">
            <a:solidFill>
              <a:srgbClr val="3A3A5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641848" y="3721608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FF9800"/>
          </a:solidFill>
          <a:ln/>
        </p:spPr>
      </p:sp>
      <p:sp>
        <p:nvSpPr>
          <p:cNvPr id="25" name="Text 23"/>
          <p:cNvSpPr/>
          <p:nvPr/>
        </p:nvSpPr>
        <p:spPr>
          <a:xfrm>
            <a:off x="5207508" y="393192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vs Com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368796" y="3657600"/>
            <a:ext cx="1051560" cy="594360"/>
          </a:xfrm>
          <a:prstGeom prst="roundRect">
            <a:avLst>
              <a:gd name="adj" fmla="val 9231"/>
            </a:avLst>
          </a:prstGeom>
          <a:solidFill>
            <a:srgbClr val="1E1E3A"/>
          </a:solidFill>
          <a:ln w="6350">
            <a:solidFill>
              <a:srgbClr val="3A3A5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803136" y="3721608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F96167"/>
          </a:solidFill>
          <a:ln/>
        </p:spPr>
      </p:sp>
      <p:sp>
        <p:nvSpPr>
          <p:cNvPr id="28" name="Text 26"/>
          <p:cNvSpPr/>
          <p:nvPr/>
        </p:nvSpPr>
        <p:spPr>
          <a:xfrm>
            <a:off x="6368796" y="393192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Uso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7530084" y="3657600"/>
            <a:ext cx="1051560" cy="594360"/>
          </a:xfrm>
          <a:prstGeom prst="roundRect">
            <a:avLst>
              <a:gd name="adj" fmla="val 9231"/>
            </a:avLst>
          </a:prstGeom>
          <a:solidFill>
            <a:srgbClr val="1E1E3A"/>
          </a:solidFill>
          <a:ln w="6350">
            <a:solidFill>
              <a:srgbClr val="3A3A5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964424" y="3721608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7C4DFF"/>
          </a:solidFill>
          <a:ln/>
        </p:spPr>
      </p:sp>
      <p:sp>
        <p:nvSpPr>
          <p:cNvPr id="31" name="Text 29"/>
          <p:cNvSpPr/>
          <p:nvPr/>
        </p:nvSpPr>
        <p:spPr>
          <a:xfrm>
            <a:off x="7530084" y="393192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Boas Práticas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1828800" y="4480560"/>
            <a:ext cx="5486400" cy="457200"/>
          </a:xfrm>
          <a:prstGeom prst="roundRect">
            <a:avLst>
              <a:gd name="adj" fmla="val 12000"/>
            </a:avLst>
          </a:prstGeom>
          <a:solidFill>
            <a:srgbClr val="1E1E3A"/>
          </a:solidFill>
          <a:ln w="6350">
            <a:solidFill>
              <a:srgbClr val="3A3A5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828800" y="44805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· Tools · MCP · Subagentes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Série de aulas sobre sistemas de agentes de IA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8229600" y="4754880"/>
            <a:ext cx="594360" cy="274320"/>
          </a:xfrm>
          <a:prstGeom prst="roundRect">
            <a:avLst>
              <a:gd name="adj" fmla="val 33333"/>
            </a:avLst>
          </a:prstGeom>
          <a:solidFill>
            <a:srgbClr val="7C4DFF"/>
          </a:solidFill>
          <a:ln/>
        </p:spPr>
      </p:sp>
      <p:sp>
        <p:nvSpPr>
          <p:cNvPr id="35" name="Text 33"/>
          <p:cNvSpPr/>
          <p:nvPr/>
        </p:nvSpPr>
        <p:spPr>
          <a:xfrm>
            <a:off x="8229600" y="475488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0F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1371600" cy="320040"/>
          </a:xfrm>
          <a:prstGeom prst="roundRect">
            <a:avLst>
              <a:gd name="adj" fmla="val 17143"/>
            </a:avLst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Agentes sem Skill: o que dá errado?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um agente não tem instruções estruturadas, ele improvisa — e isso gera resultados inconsistentes.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2606040" cy="1234440"/>
          </a:xfrm>
          <a:prstGeom prst="rect">
            <a:avLst/>
          </a:prstGeom>
          <a:solidFill>
            <a:srgbClr val="1E1E3A"/>
          </a:solidFill>
          <a:ln w="6350">
            <a:solidFill>
              <a:srgbClr val="2D2D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691640"/>
            <a:ext cx="2606040" cy="45720"/>
          </a:xfrm>
          <a:prstGeom prst="rect">
            <a:avLst/>
          </a:prstGeom>
          <a:solidFill>
            <a:srgbClr val="FF9800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87452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60120" y="18288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Comportamento imprevisível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94360" y="21945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mesmo prompt produz respostas diferentes a cada execução. Impossível garantir padrão em produção.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246120" y="1691640"/>
            <a:ext cx="2606040" cy="1234440"/>
          </a:xfrm>
          <a:prstGeom prst="rect">
            <a:avLst/>
          </a:prstGeom>
          <a:solidFill>
            <a:srgbClr val="1E1E3A"/>
          </a:solidFill>
          <a:ln w="6350">
            <a:solidFill>
              <a:srgbClr val="2D2D55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246120" y="1691640"/>
            <a:ext cx="2606040" cy="45720"/>
          </a:xfrm>
          <a:prstGeom prst="rect">
            <a:avLst/>
          </a:prstGeom>
          <a:solidFill>
            <a:srgbClr val="F96167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1874520"/>
            <a:ext cx="274320" cy="2743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749040" y="18288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Retrabalho constante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3383280" y="21945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tarefa exige re-explicar o contexto, o formato esperado e as regras do negócio. Zero reúso.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6035040" y="1691640"/>
            <a:ext cx="2606040" cy="1234440"/>
          </a:xfrm>
          <a:prstGeom prst="rect">
            <a:avLst/>
          </a:prstGeom>
          <a:solidFill>
            <a:srgbClr val="1E1E3A"/>
          </a:solidFill>
          <a:ln w="6350">
            <a:solidFill>
              <a:srgbClr val="2D2D55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035040" y="1691640"/>
            <a:ext cx="2606040" cy="45720"/>
          </a:xfrm>
          <a:prstGeom prst="rect">
            <a:avLst/>
          </a:prstGeom>
          <a:solidFill>
            <a:srgbClr val="FFD54F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874520"/>
            <a:ext cx="274320" cy="2743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537960" y="18288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Qualidade degradante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6172200" y="21945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um playbook, o agente toma atalhos, pula etapas e entrega resultados abaixo do esperado.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457200" y="3108960"/>
            <a:ext cx="2606040" cy="1234440"/>
          </a:xfrm>
          <a:prstGeom prst="rect">
            <a:avLst/>
          </a:prstGeom>
          <a:solidFill>
            <a:srgbClr val="1E1E3A"/>
          </a:solidFill>
          <a:ln w="6350">
            <a:solidFill>
              <a:srgbClr val="2D2D55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457200" y="3108960"/>
            <a:ext cx="2606040" cy="45720"/>
          </a:xfrm>
          <a:prstGeom prst="rect">
            <a:avLst/>
          </a:prstGeom>
          <a:solidFill>
            <a:srgbClr val="5C6BC0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3291840"/>
            <a:ext cx="274320" cy="27432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60120" y="32461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6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Difícil de auditar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594360" y="36118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registro de como o agente deve agir, é impossível rastrear o que causou um comportamento errado.</a:t>
            </a:r>
            <a:endParaRPr lang="en-US" sz="950" dirty="0"/>
          </a:p>
        </p:txBody>
      </p:sp>
      <p:sp>
        <p:nvSpPr>
          <p:cNvPr id="27" name="Shape 21"/>
          <p:cNvSpPr/>
          <p:nvPr/>
        </p:nvSpPr>
        <p:spPr>
          <a:xfrm>
            <a:off x="3246120" y="3108960"/>
            <a:ext cx="2606040" cy="1234440"/>
          </a:xfrm>
          <a:prstGeom prst="rect">
            <a:avLst/>
          </a:prstGeom>
          <a:solidFill>
            <a:srgbClr val="1E1E3A"/>
          </a:solidFill>
          <a:ln w="6350">
            <a:solidFill>
              <a:srgbClr val="2D2D55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3246120" y="3108960"/>
            <a:ext cx="2606040" cy="45720"/>
          </a:xfrm>
          <a:prstGeom prst="rect">
            <a:avLst/>
          </a:prstGeom>
          <a:solidFill>
            <a:srgbClr val="26A69A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3280" y="3291840"/>
            <a:ext cx="274320" cy="27432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3749040" y="32461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A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escala em equipe</a:t>
            </a:r>
            <a:endParaRPr lang="en-US" sz="1100" dirty="0"/>
          </a:p>
        </p:txBody>
      </p:sp>
      <p:sp>
        <p:nvSpPr>
          <p:cNvPr id="31" name="Text 24"/>
          <p:cNvSpPr/>
          <p:nvPr/>
        </p:nvSpPr>
        <p:spPr>
          <a:xfrm>
            <a:off x="3383280" y="36118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dev configura o agente de um jeito diferente. Sem padronização, o sistema vira caos.</a:t>
            </a:r>
            <a:endParaRPr lang="en-US" sz="950" dirty="0"/>
          </a:p>
        </p:txBody>
      </p:sp>
      <p:sp>
        <p:nvSpPr>
          <p:cNvPr id="32" name="Shape 25"/>
          <p:cNvSpPr/>
          <p:nvPr/>
        </p:nvSpPr>
        <p:spPr>
          <a:xfrm>
            <a:off x="6035040" y="3108960"/>
            <a:ext cx="2606040" cy="1234440"/>
          </a:xfrm>
          <a:prstGeom prst="rect">
            <a:avLst/>
          </a:prstGeom>
          <a:solidFill>
            <a:srgbClr val="1E1E3A"/>
          </a:solidFill>
          <a:ln w="6350">
            <a:solidFill>
              <a:srgbClr val="2D2D55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6035040" y="3108960"/>
            <a:ext cx="2606040" cy="45720"/>
          </a:xfrm>
          <a:prstGeom prst="rect">
            <a:avLst/>
          </a:prstGeom>
          <a:solidFill>
            <a:srgbClr val="E91E63"/>
          </a:solidFill>
          <a:ln/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2200" y="3291840"/>
            <a:ext cx="274320" cy="274320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6537960" y="32461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1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guardrails</a:t>
            </a:r>
            <a:endParaRPr lang="en-US" sz="1100" dirty="0"/>
          </a:p>
        </p:txBody>
      </p:sp>
      <p:sp>
        <p:nvSpPr>
          <p:cNvPr id="36" name="Text 28"/>
          <p:cNvSpPr/>
          <p:nvPr/>
        </p:nvSpPr>
        <p:spPr>
          <a:xfrm>
            <a:off x="6172200" y="36118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agente pode tomar decisões prejudiciais por falta de regras explícitas de segurança e limites de ação.</a:t>
            </a:r>
            <a:endParaRPr lang="en-US" sz="950" dirty="0"/>
          </a:p>
        </p:txBody>
      </p:sp>
      <p:sp>
        <p:nvSpPr>
          <p:cNvPr id="37" name="Shape 29"/>
          <p:cNvSpPr/>
          <p:nvPr/>
        </p:nvSpPr>
        <p:spPr>
          <a:xfrm>
            <a:off x="457200" y="4572000"/>
            <a:ext cx="8229600" cy="365760"/>
          </a:xfrm>
          <a:prstGeom prst="roundRect">
            <a:avLst>
              <a:gd name="adj" fmla="val 15000"/>
            </a:avLst>
          </a:prstGeom>
          <a:solidFill>
            <a:srgbClr val="1E1E3A"/>
          </a:solidFill>
          <a:ln w="6350">
            <a:solidFill>
              <a:srgbClr val="3A3A5E"/>
            </a:solidFill>
            <a:prstDash val="solid"/>
          </a:ln>
        </p:spPr>
      </p:sp>
      <p:sp>
        <p:nvSpPr>
          <p:cNvPr id="38" name="Text 30"/>
          <p:cNvSpPr/>
          <p:nvPr/>
        </p:nvSpPr>
        <p:spPr>
          <a:xfrm>
            <a:off x="640080" y="45720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Conclusão: </a:t>
            </a:r>
            <a:pPr indent="0" marL="0">
              <a:buNone/>
            </a:pPr>
            <a:r>
              <a:rPr lang="en-US" sz="10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existem para resolver exatamente esses problemas — transformando improvisação em processo.</a:t>
            </a:r>
            <a:endParaRPr lang="en-US" sz="1000" dirty="0"/>
          </a:p>
        </p:txBody>
      </p:sp>
      <p:sp>
        <p:nvSpPr>
          <p:cNvPr id="39" name="Shape 31"/>
          <p:cNvSpPr/>
          <p:nvPr/>
        </p:nvSpPr>
        <p:spPr>
          <a:xfrm>
            <a:off x="8229600" y="4754880"/>
            <a:ext cx="594360" cy="274320"/>
          </a:xfrm>
          <a:prstGeom prst="roundRect">
            <a:avLst>
              <a:gd name="adj" fmla="val 33333"/>
            </a:avLst>
          </a:prstGeom>
          <a:solidFill>
            <a:srgbClr val="7C4DFF"/>
          </a:solidFill>
          <a:ln/>
        </p:spPr>
      </p:sp>
      <p:sp>
        <p:nvSpPr>
          <p:cNvPr id="40" name="Text 32"/>
          <p:cNvSpPr/>
          <p:nvPr/>
        </p:nvSpPr>
        <p:spPr>
          <a:xfrm>
            <a:off x="8229600" y="475488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0F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C6BC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1280160" cy="320040"/>
          </a:xfrm>
          <a:prstGeom prst="roundRect">
            <a:avLst>
              <a:gd name="adj" fmla="val 17143"/>
            </a:avLst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DEFINIÇÃO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que é uma Skill, afinal?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1E1E3A"/>
          </a:solidFill>
          <a:ln w="12700">
            <a:solidFill>
              <a:srgbClr val="5C6B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32588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DEFINIÇÃO  </a:t>
            </a:r>
            <a:pPr indent="0" marL="0">
              <a:buNone/>
            </a:pPr>
            <a:r>
              <a:rPr lang="en-US" sz="11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Skill é um arquivo Markdown (SKILL.md) que contém instruções estruturadas — um playbook — injetado no contexto do agente quando necessário. Ela não executa código: ensina o modelo a pensar e agir de forma consistente numa situação específica.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286000"/>
            <a:ext cx="2606040" cy="1280160"/>
          </a:xfrm>
          <a:prstGeom prst="rect">
            <a:avLst/>
          </a:prstGeom>
          <a:solidFill>
            <a:srgbClr val="1E1E3A"/>
          </a:solidFill>
          <a:ln w="6350">
            <a:solidFill>
              <a:srgbClr val="2D2D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17320" y="2377440"/>
            <a:ext cx="548640" cy="548640"/>
          </a:xfrm>
          <a:prstGeom prst="oval">
            <a:avLst/>
          </a:prstGeom>
          <a:solidFill>
            <a:srgbClr val="5C6BC0">
              <a:alpha val="40000"/>
            </a:srgbClr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6192" y="2496312"/>
            <a:ext cx="320040" cy="3200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48640" y="297180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C6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Arquivo Markdown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48640" y="324612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Apenas texto. Sem compilação, sem SDK, sem runtime especial. Qualquer editor funciona.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291840" y="2286000"/>
            <a:ext cx="2606040" cy="1280160"/>
          </a:xfrm>
          <a:prstGeom prst="rect">
            <a:avLst/>
          </a:prstGeom>
          <a:solidFill>
            <a:srgbClr val="1E1E3A"/>
          </a:solidFill>
          <a:ln w="6350">
            <a:solidFill>
              <a:srgbClr val="2D2D5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251960" y="2377440"/>
            <a:ext cx="548640" cy="548640"/>
          </a:xfrm>
          <a:prstGeom prst="oval">
            <a:avLst/>
          </a:prstGeom>
          <a:solidFill>
            <a:srgbClr val="4CAF50">
              <a:alpha val="40000"/>
            </a:srgbClr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0832" y="2496312"/>
            <a:ext cx="320040" cy="32004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383280" y="297180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Injetada no contexto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3383280" y="324612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conteúdo da Skill é injetado no system prompt quando o agente identifica relevância.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6126480" y="2286000"/>
            <a:ext cx="2606040" cy="1280160"/>
          </a:xfrm>
          <a:prstGeom prst="rect">
            <a:avLst/>
          </a:prstGeom>
          <a:solidFill>
            <a:srgbClr val="1E1E3A"/>
          </a:solidFill>
          <a:ln w="6350">
            <a:solidFill>
              <a:srgbClr val="2D2D55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086600" y="2377440"/>
            <a:ext cx="548640" cy="548640"/>
          </a:xfrm>
          <a:prstGeom prst="oval">
            <a:avLst/>
          </a:prstGeom>
          <a:solidFill>
            <a:srgbClr val="00BCD4">
              <a:alpha val="40000"/>
            </a:srgbClr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5472" y="2496312"/>
            <a:ext cx="320040" cy="32004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217920" y="297180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Instrui o raciocínio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6217920" y="324612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etapas, regras, formatos de output e stop conditions — tudo que o modelo precisa para agir bem.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457200" y="3703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MÍNIMA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457200" y="3931920"/>
            <a:ext cx="8229600" cy="1005840"/>
          </a:xfrm>
          <a:prstGeom prst="rect">
            <a:avLst/>
          </a:prstGeom>
          <a:solidFill>
            <a:srgbClr val="12122A"/>
          </a:solidFill>
          <a:ln w="6350">
            <a:solidFill>
              <a:srgbClr val="2D2D55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640080" y="3950208"/>
            <a:ext cx="7863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BC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name: minha-skill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BC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description: O que ela faz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BC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version: 1.0.0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888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CAF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Instruções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CAF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Quando o usuário pedir X:  1. Faça A  2. Faça B  3. Confirme</a:t>
            </a:r>
            <a:endParaRPr lang="en-US" sz="900" dirty="0"/>
          </a:p>
        </p:txBody>
      </p:sp>
      <p:sp>
        <p:nvSpPr>
          <p:cNvPr id="26" name="Shape 21"/>
          <p:cNvSpPr/>
          <p:nvPr/>
        </p:nvSpPr>
        <p:spPr>
          <a:xfrm>
            <a:off x="8229600" y="4754880"/>
            <a:ext cx="594360" cy="274320"/>
          </a:xfrm>
          <a:prstGeom prst="roundRect">
            <a:avLst>
              <a:gd name="adj" fmla="val 33333"/>
            </a:avLst>
          </a:prstGeom>
          <a:solidFill>
            <a:srgbClr val="7C4DFF"/>
          </a:solidFill>
          <a:ln/>
        </p:spPr>
      </p:sp>
      <p:sp>
        <p:nvSpPr>
          <p:cNvPr id="27" name="Text 22"/>
          <p:cNvSpPr/>
          <p:nvPr/>
        </p:nvSpPr>
        <p:spPr>
          <a:xfrm>
            <a:off x="8229600" y="475488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0F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1371600" cy="320040"/>
          </a:xfrm>
          <a:prstGeom prst="roundRect">
            <a:avLst>
              <a:gd name="adj" fmla="val 17143"/>
            </a:avLst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VANTAGENS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 razões para usar Skills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8229600" cy="594360"/>
          </a:xfrm>
          <a:prstGeom prst="rect">
            <a:avLst/>
          </a:prstGeom>
          <a:solidFill>
            <a:srgbClr val="1E1E3A"/>
          </a:solidFill>
          <a:ln w="6350">
            <a:solidFill>
              <a:srgbClr val="2D2D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80160"/>
            <a:ext cx="54864" cy="59436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28016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CAF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188720" y="13258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Reusabilidade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88720" y="158191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Escreva uma vez, use em todos os agentes.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297680" y="1371600"/>
            <a:ext cx="18288" cy="411480"/>
          </a:xfrm>
          <a:prstGeom prst="rect">
            <a:avLst/>
          </a:prstGeom>
          <a:solidFill>
            <a:srgbClr val="3A3A5E"/>
          </a:solidFill>
          <a:ln/>
        </p:spPr>
      </p:sp>
      <p:sp>
        <p:nvSpPr>
          <p:cNvPr id="12" name="Text 10"/>
          <p:cNvSpPr/>
          <p:nvPr/>
        </p:nvSpPr>
        <p:spPr>
          <a:xfrm>
            <a:off x="4480560" y="132588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mesma Skill pode ser compartilhada entre múltiplos agentes e projetos. Sem copiar prompts manualmente.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1993392"/>
            <a:ext cx="8229600" cy="594360"/>
          </a:xfrm>
          <a:prstGeom prst="rect">
            <a:avLst/>
          </a:prstGeom>
          <a:solidFill>
            <a:srgbClr val="1E1E3A"/>
          </a:solidFill>
          <a:ln w="6350">
            <a:solidFill>
              <a:srgbClr val="2D2D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1993392"/>
            <a:ext cx="54864" cy="594360"/>
          </a:xfrm>
          <a:prstGeom prst="rect">
            <a:avLst/>
          </a:prstGeom>
          <a:solidFill>
            <a:srgbClr val="26A69A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1993392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6A6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188720" y="203911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A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Consistência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88720" y="2295144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Mesmo resultado toda vez que for acionada.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297680" y="2084832"/>
            <a:ext cx="18288" cy="411480"/>
          </a:xfrm>
          <a:prstGeom prst="rect">
            <a:avLst/>
          </a:prstGeom>
          <a:solidFill>
            <a:srgbClr val="3A3A5E"/>
          </a:solidFill>
          <a:ln/>
        </p:spPr>
      </p:sp>
      <p:sp>
        <p:nvSpPr>
          <p:cNvPr id="19" name="Text 17"/>
          <p:cNvSpPr/>
          <p:nvPr/>
        </p:nvSpPr>
        <p:spPr>
          <a:xfrm>
            <a:off x="4480560" y="2039112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agente segue sempre o mesmo fluxo, garantindo previsibilidade e padrão de qualidade em produção.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2706624"/>
            <a:ext cx="8229600" cy="594360"/>
          </a:xfrm>
          <a:prstGeom prst="rect">
            <a:avLst/>
          </a:prstGeom>
          <a:solidFill>
            <a:srgbClr val="1E1E3A"/>
          </a:solidFill>
          <a:ln w="6350">
            <a:solidFill>
              <a:srgbClr val="2D2D5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2706624"/>
            <a:ext cx="54864" cy="594360"/>
          </a:xfrm>
          <a:prstGeom prst="rect">
            <a:avLst/>
          </a:prstGeom>
          <a:solidFill>
            <a:srgbClr val="7C4DFF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2706624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C4D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188720" y="275234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Manutenção simples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88720" y="3008376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Edite o .md e todos os agentes se atualizam.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297680" y="2798064"/>
            <a:ext cx="18288" cy="411480"/>
          </a:xfrm>
          <a:prstGeom prst="rect">
            <a:avLst/>
          </a:prstGeom>
          <a:solidFill>
            <a:srgbClr val="3A3A5E"/>
          </a:solidFill>
          <a:ln/>
        </p:spPr>
      </p:sp>
      <p:sp>
        <p:nvSpPr>
          <p:cNvPr id="26" name="Text 24"/>
          <p:cNvSpPr/>
          <p:nvPr/>
        </p:nvSpPr>
        <p:spPr>
          <a:xfrm>
            <a:off x="4480560" y="2752344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há código para compilar. Editar a Skill reflete imediatamente no comportamento do agente.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3419856"/>
            <a:ext cx="8229600" cy="594360"/>
          </a:xfrm>
          <a:prstGeom prst="rect">
            <a:avLst/>
          </a:prstGeom>
          <a:solidFill>
            <a:srgbClr val="1E1E3A"/>
          </a:solidFill>
          <a:ln w="6350">
            <a:solidFill>
              <a:srgbClr val="2D2D5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3419856"/>
            <a:ext cx="54864" cy="59436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3419856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A8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1188720" y="346557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Auditabilidade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188720" y="372160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comportamento está documentado em texto.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297680" y="3511296"/>
            <a:ext cx="18288" cy="411480"/>
          </a:xfrm>
          <a:prstGeom prst="rect">
            <a:avLst/>
          </a:prstGeom>
          <a:solidFill>
            <a:srgbClr val="3A3A5E"/>
          </a:solidFill>
          <a:ln/>
        </p:spPr>
      </p:sp>
      <p:sp>
        <p:nvSpPr>
          <p:cNvPr id="33" name="Text 31"/>
          <p:cNvSpPr/>
          <p:nvPr/>
        </p:nvSpPr>
        <p:spPr>
          <a:xfrm>
            <a:off x="4480560" y="3465576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Qualquer pessoa pode ler o SKILL.md e entender exatamente o que o agente vai fazer — sem caixa-preta.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" y="4133088"/>
            <a:ext cx="8229600" cy="594360"/>
          </a:xfrm>
          <a:prstGeom prst="rect">
            <a:avLst/>
          </a:prstGeom>
          <a:solidFill>
            <a:srgbClr val="1E1E3A"/>
          </a:solidFill>
          <a:ln w="6350">
            <a:solidFill>
              <a:srgbClr val="2D2D5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7200" y="4133088"/>
            <a:ext cx="54864" cy="59436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6" name="Text 34"/>
          <p:cNvSpPr/>
          <p:nvPr/>
        </p:nvSpPr>
        <p:spPr>
          <a:xfrm>
            <a:off x="640080" y="4133088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9616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1188720" y="417880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Escalabilidade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1188720" y="443484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Equipes inteiras seguem o mesmo padrão.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297680" y="4224528"/>
            <a:ext cx="18288" cy="411480"/>
          </a:xfrm>
          <a:prstGeom prst="rect">
            <a:avLst/>
          </a:prstGeom>
          <a:solidFill>
            <a:srgbClr val="3A3A5E"/>
          </a:solidFill>
          <a:ln/>
        </p:spPr>
      </p:sp>
      <p:sp>
        <p:nvSpPr>
          <p:cNvPr id="40" name="Text 38"/>
          <p:cNvSpPr/>
          <p:nvPr/>
        </p:nvSpPr>
        <p:spPr>
          <a:xfrm>
            <a:off x="4480560" y="4178808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criam uma linguagem comum. Novos devs em onboarding entendem o sistema lendo os arquivos Markdown.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8229600" y="4754880"/>
            <a:ext cx="594360" cy="274320"/>
          </a:xfrm>
          <a:prstGeom prst="roundRect">
            <a:avLst>
              <a:gd name="adj" fmla="val 33333"/>
            </a:avLst>
          </a:prstGeom>
          <a:solidFill>
            <a:srgbClr val="7C4DFF"/>
          </a:solidFill>
          <a:ln/>
        </p:spPr>
      </p:sp>
      <p:sp>
        <p:nvSpPr>
          <p:cNvPr id="42" name="Text 40"/>
          <p:cNvSpPr/>
          <p:nvPr/>
        </p:nvSpPr>
        <p:spPr>
          <a:xfrm>
            <a:off x="8229600" y="475488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0F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1280160" cy="320040"/>
          </a:xfrm>
          <a:prstGeom prst="roundRect">
            <a:avLst>
              <a:gd name="adj" fmla="val 17143"/>
            </a:avLst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ANATOMIA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Anatomia de um SKILL.md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868680" cy="256032"/>
          </a:xfrm>
          <a:prstGeom prst="roundRect">
            <a:avLst>
              <a:gd name="adj" fmla="val 14286"/>
            </a:avLst>
          </a:prstGeom>
          <a:solidFill>
            <a:srgbClr val="00BCD4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23444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0F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SKILL.md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554480"/>
            <a:ext cx="4114800" cy="3246120"/>
          </a:xfrm>
          <a:prstGeom prst="rect">
            <a:avLst/>
          </a:prstGeom>
          <a:solidFill>
            <a:srgbClr val="12122A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645920"/>
            <a:ext cx="38404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888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
</a:t>
            </a:r>
            <a:pPr indent="0" marL="0">
              <a:buNone/>
            </a:pPr>
            <a:r>
              <a:rPr lang="en-US" sz="800" dirty="0">
                <a:solidFill>
                  <a:srgbClr val="00BC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name: code-review
</a:t>
            </a:r>
            <a:pPr indent="0" marL="0">
              <a:buNone/>
            </a:pPr>
            <a:r>
              <a:rPr lang="en-US" sz="800" dirty="0">
                <a:solidFill>
                  <a:srgbClr val="00BC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description: Revisa PRs seguindo
</a:t>
            </a:r>
            <a:pPr indent="0" marL="0">
              <a:buNone/>
            </a:pPr>
            <a:r>
              <a:rPr lang="en-US" sz="800" dirty="0">
                <a:solidFill>
                  <a:srgbClr val="00BC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padrões de segurança da equipe.
</a:t>
            </a:r>
            <a:pPr indent="0" marL="0">
              <a:buNone/>
            </a:pPr>
            <a:r>
              <a:rPr lang="en-US" sz="800" dirty="0">
                <a:solidFill>
                  <a:srgbClr val="00BC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version: 2.1.0
</a:t>
            </a:r>
            <a:pPr indent="0" marL="0">
              <a:buNone/>
            </a:pPr>
            <a:r>
              <a:rPr lang="en-US" sz="800" dirty="0">
                <a:solidFill>
                  <a:srgbClr val="FF9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requires:
</a:t>
            </a:r>
            <a:pPr indent="0" marL="0">
              <a:buNone/>
            </a:pPr>
            <a:r>
              <a:rPr lang="en-US" sz="800" dirty="0">
                <a:solidFill>
                  <a:srgbClr val="FF9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bins: [git, gh]
</a:t>
            </a:r>
            <a:pPr indent="0" marL="0">
              <a:buNone/>
            </a:pPr>
            <a:r>
              <a:rPr lang="en-US" sz="800" dirty="0">
                <a:solidFill>
                  <a:srgbClr val="FF9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env: [GITHUB_TOKEN]
</a:t>
            </a:r>
            <a:pPr indent="0" marL="0">
              <a:buNone/>
            </a:pPr>
            <a:r>
              <a:rPr lang="en-US" sz="800" dirty="0">
                <a:solidFill>
                  <a:srgbClr val="8888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
</a:t>
            </a:r>
            <a:pPr indent="0" marL="0">
              <a:buNone/>
            </a:pPr>
            <a:r>
              <a:rPr lang="en-US" sz="800" dirty="0">
                <a:solidFill>
                  <a:srgbClr val="8888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800" dirty="0">
                <a:solidFill>
                  <a:srgbClr val="4CAF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Quando usar
</a:t>
            </a:r>
            <a:pPr indent="0" marL="0">
              <a:buNone/>
            </a:pPr>
            <a:r>
              <a:rPr lang="en-US" sz="800" dirty="0">
                <a:solidFill>
                  <a:srgbClr val="C8C8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Quando o usuário pedir revisão de
</a:t>
            </a:r>
            <a:pPr indent="0" marL="0">
              <a:buNone/>
            </a:pPr>
            <a:r>
              <a:rPr lang="en-US" sz="800" dirty="0">
                <a:solidFill>
                  <a:srgbClr val="C8C8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código ou abrir uma PR para análise.
</a:t>
            </a:r>
            <a:pPr indent="0" marL="0">
              <a:buNone/>
            </a:pPr>
            <a:r>
              <a:rPr lang="en-US" sz="800" dirty="0">
                <a:solidFill>
                  <a:srgbClr val="8888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800" dirty="0">
                <a:solidFill>
                  <a:srgbClr val="FFD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Fluxo
</a:t>
            </a:r>
            <a:pPr indent="0" marL="0">
              <a:buNone/>
            </a:pPr>
            <a:r>
              <a:rPr lang="en-US" sz="800" dirty="0">
                <a:solidFill>
                  <a:srgbClr val="C8C8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Leia os arquivos alterados com gh pr
</a:t>
            </a:r>
            <a:pPr indent="0" marL="0">
              <a:buNone/>
            </a:pPr>
            <a:r>
              <a:rPr lang="en-US" sz="800" dirty="0">
                <a:solidFill>
                  <a:srgbClr val="C8C8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Verifique: SQL injection, XSS, auth
</a:t>
            </a:r>
            <a:pPr indent="0" marL="0">
              <a:buNone/>
            </a:pPr>
            <a:r>
              <a:rPr lang="en-US" sz="800" dirty="0">
                <a:solidFill>
                  <a:srgbClr val="C8C8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Classifique: CRÍTICO / MÉDIO / BAIXO
</a:t>
            </a:r>
            <a:pPr indent="0" marL="0">
              <a:buNone/>
            </a:pPr>
            <a:r>
              <a:rPr lang="en-US" sz="800" dirty="0">
                <a:solidFill>
                  <a:srgbClr val="C8C8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Gere relatório no formato padrão
</a:t>
            </a:r>
            <a:pPr indent="0" marL="0">
              <a:buNone/>
            </a:pPr>
            <a:r>
              <a:rPr lang="en-US" sz="800" dirty="0">
                <a:solidFill>
                  <a:srgbClr val="8888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800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Regras
</a:t>
            </a:r>
            <a:pPr indent="0" marL="0">
              <a:buNone/>
            </a:pPr>
            <a:r>
              <a:rPr lang="en-US" sz="800" dirty="0">
                <a:solidFill>
                  <a:srgbClr val="C8C8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Nunca aprove PR com issue CRÍTICO
</a:t>
            </a:r>
            <a:pPr indent="0" marL="0">
              <a:buNone/>
            </a:pPr>
            <a:r>
              <a:rPr lang="en-US" sz="800" dirty="0">
                <a:solidFill>
                  <a:srgbClr val="FFD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Sempre liste line numbers
</a:t>
            </a:r>
            <a:pPr indent="0" marL="0">
              <a:buNone/>
            </a:pPr>
            <a:r>
              <a:rPr lang="en-US" sz="800" dirty="0">
                <a:solidFill>
                  <a:srgbClr val="C8C8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Confirme com o usuário antes de comentar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846320" y="1280160"/>
            <a:ext cx="3840480" cy="548640"/>
          </a:xfrm>
          <a:prstGeom prst="rect">
            <a:avLst/>
          </a:prstGeom>
          <a:solidFill>
            <a:srgbClr val="1E1E3A"/>
          </a:solidFill>
          <a:ln w="6350">
            <a:solidFill>
              <a:srgbClr val="2D2D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46320" y="1572768"/>
            <a:ext cx="3840480" cy="36576"/>
          </a:xfrm>
          <a:prstGeom prst="rect">
            <a:avLst/>
          </a:prstGeom>
          <a:solidFill>
            <a:srgbClr val="5C6BC0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6002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C6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FRONTMATTER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937760" y="12984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Metadados YAML: nome, descrição, versão e dependências. Usado para descobrir e filtrar a Skill.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846320" y="1920240"/>
            <a:ext cx="3840480" cy="548640"/>
          </a:xfrm>
          <a:prstGeom prst="rect">
            <a:avLst/>
          </a:prstGeom>
          <a:solidFill>
            <a:srgbClr val="1E1E3A"/>
          </a:solidFill>
          <a:ln w="6350">
            <a:solidFill>
              <a:srgbClr val="2D2D5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46320" y="2212848"/>
            <a:ext cx="3840480" cy="36576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6" name="Text 14"/>
          <p:cNvSpPr/>
          <p:nvPr/>
        </p:nvSpPr>
        <p:spPr>
          <a:xfrm>
            <a:off x="4937760" y="224028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DEPENDÊNCIAS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937760" y="1938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bins: binários obrigatórios no PATH. env: variáveis de ambiente. A Skill só ativa se tudo estiver disponível.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846320" y="2560320"/>
            <a:ext cx="3840480" cy="548640"/>
          </a:xfrm>
          <a:prstGeom prst="rect">
            <a:avLst/>
          </a:prstGeom>
          <a:solidFill>
            <a:srgbClr val="1E1E3A"/>
          </a:solidFill>
          <a:ln w="6350">
            <a:solidFill>
              <a:srgbClr val="2D2D5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46320" y="2852928"/>
            <a:ext cx="3840480" cy="36576"/>
          </a:xfrm>
          <a:prstGeom prst="rect">
            <a:avLst/>
          </a:prstGeom>
          <a:solidFill>
            <a:srgbClr val="7C4DFF"/>
          </a:solidFill>
          <a:ln/>
        </p:spPr>
      </p:sp>
      <p:sp>
        <p:nvSpPr>
          <p:cNvPr id="20" name="Text 18"/>
          <p:cNvSpPr/>
          <p:nvPr/>
        </p:nvSpPr>
        <p:spPr>
          <a:xfrm>
            <a:off x="4937760" y="288036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GATILHO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937760" y="2578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quando a Skill deve ser acionada. Quanto mais específico, menor o risco de ativações indevidas.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846320" y="3200400"/>
            <a:ext cx="3840480" cy="548640"/>
          </a:xfrm>
          <a:prstGeom prst="rect">
            <a:avLst/>
          </a:prstGeom>
          <a:solidFill>
            <a:srgbClr val="1E1E3A"/>
          </a:solidFill>
          <a:ln w="6350">
            <a:solidFill>
              <a:srgbClr val="2D2D5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46320" y="3493008"/>
            <a:ext cx="3840480" cy="36576"/>
          </a:xfrm>
          <a:prstGeom prst="rect">
            <a:avLst/>
          </a:prstGeom>
          <a:solidFill>
            <a:srgbClr val="FFD54F"/>
          </a:solidFill>
          <a:ln/>
        </p:spPr>
      </p:sp>
      <p:sp>
        <p:nvSpPr>
          <p:cNvPr id="24" name="Text 22"/>
          <p:cNvSpPr/>
          <p:nvPr/>
        </p:nvSpPr>
        <p:spPr>
          <a:xfrm>
            <a:off x="4937760" y="35204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D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937760" y="32186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Passos numerados = checklist determinístico. O agente executa na ordem sem improvisar etapas.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846320" y="3840480"/>
            <a:ext cx="3840480" cy="548640"/>
          </a:xfrm>
          <a:prstGeom prst="rect">
            <a:avLst/>
          </a:prstGeom>
          <a:solidFill>
            <a:srgbClr val="1E1E3A"/>
          </a:solidFill>
          <a:ln w="6350">
            <a:solidFill>
              <a:srgbClr val="2D2D5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46320" y="4133088"/>
            <a:ext cx="3840480" cy="36576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28" name="Text 26"/>
          <p:cNvSpPr/>
          <p:nvPr/>
        </p:nvSpPr>
        <p:spPr>
          <a:xfrm>
            <a:off x="4937760" y="41605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/ GUARDRAILS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937760" y="38587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conditions e limites explícitos. Evitam que o agente tome decisões perigosas ou indesejadas.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8229600" y="4754880"/>
            <a:ext cx="594360" cy="274320"/>
          </a:xfrm>
          <a:prstGeom prst="roundRect">
            <a:avLst>
              <a:gd name="adj" fmla="val 33333"/>
            </a:avLst>
          </a:prstGeom>
          <a:solidFill>
            <a:srgbClr val="7C4DFF"/>
          </a:solidFill>
          <a:ln/>
        </p:spPr>
      </p:sp>
      <p:sp>
        <p:nvSpPr>
          <p:cNvPr id="31" name="Text 29"/>
          <p:cNvSpPr/>
          <p:nvPr/>
        </p:nvSpPr>
        <p:spPr>
          <a:xfrm>
            <a:off x="8229600" y="475488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0F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1645920" cy="320040"/>
          </a:xfrm>
          <a:prstGeom prst="roundRect">
            <a:avLst>
              <a:gd name="adj" fmla="val 17143"/>
            </a:avLst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Sem Skill  vs  Com Skill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3931920" cy="320040"/>
          </a:xfrm>
          <a:prstGeom prst="roundRect">
            <a:avLst>
              <a:gd name="adj" fmla="val 17143"/>
            </a:avLst>
          </a:prstGeom>
          <a:solidFill>
            <a:srgbClr val="F96167">
              <a:alpha val="7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2344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Skill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06240" y="1188720"/>
            <a:ext cx="411480" cy="411480"/>
          </a:xfrm>
          <a:prstGeom prst="oval">
            <a:avLst/>
          </a:prstGeom>
          <a:solidFill>
            <a:srgbClr val="D4A843"/>
          </a:solidFill>
          <a:ln/>
        </p:spPr>
      </p:sp>
      <p:sp>
        <p:nvSpPr>
          <p:cNvPr id="9" name="Text 7"/>
          <p:cNvSpPr/>
          <p:nvPr/>
        </p:nvSpPr>
        <p:spPr>
          <a:xfrm>
            <a:off x="4206240" y="1188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0F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1234440"/>
            <a:ext cx="3931920" cy="320040"/>
          </a:xfrm>
          <a:prstGeom prst="roundRect">
            <a:avLst>
              <a:gd name="adj" fmla="val 17143"/>
            </a:avLst>
          </a:prstGeom>
          <a:solidFill>
            <a:srgbClr val="4CAF50">
              <a:alpha val="7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12344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Skill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167335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 agente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1856232"/>
            <a:ext cx="3931920" cy="320040"/>
          </a:xfrm>
          <a:prstGeom prst="rect">
            <a:avLst/>
          </a:prstGeom>
          <a:solidFill>
            <a:srgbClr val="2A1A1A"/>
          </a:solidFill>
          <a:ln w="6350">
            <a:solidFill>
              <a:srgbClr val="4A2A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185623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dev re-explica tudo no prompt. Cada sessão começa do zero.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754880" y="1856232"/>
            <a:ext cx="3931920" cy="320040"/>
          </a:xfrm>
          <a:prstGeom prst="rect">
            <a:avLst/>
          </a:prstGeom>
          <a:solidFill>
            <a:srgbClr val="1A2A1A"/>
          </a:solidFill>
          <a:ln w="6350">
            <a:solidFill>
              <a:srgbClr val="2A4A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185623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é carregada automaticamente. O agente já sabe o que fazer.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" y="224028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no comportamento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2423160"/>
            <a:ext cx="3931920" cy="320040"/>
          </a:xfrm>
          <a:prstGeom prst="rect">
            <a:avLst/>
          </a:prstGeom>
          <a:solidFill>
            <a:srgbClr val="2A1A1A"/>
          </a:solidFill>
          <a:ln w="6350">
            <a:solidFill>
              <a:srgbClr val="4A2A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24231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Ninguém sabe por que o agente agiu assim. Sem rastro, sem fix claro.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754880" y="2423160"/>
            <a:ext cx="3931920" cy="320040"/>
          </a:xfrm>
          <a:prstGeom prst="rect">
            <a:avLst/>
          </a:prstGeom>
          <a:solidFill>
            <a:srgbClr val="1A2A1A"/>
          </a:solidFill>
          <a:ln w="6350">
            <a:solidFill>
              <a:srgbClr val="2A4A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24231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Lê-se o SKILL.md e identifica-se o passo problemático. Fix em segundos.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57200" y="280720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 membro na equipe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2990088"/>
            <a:ext cx="3931920" cy="320040"/>
          </a:xfrm>
          <a:prstGeom prst="rect">
            <a:avLst/>
          </a:prstGeom>
          <a:solidFill>
            <a:srgbClr val="2A1A1A"/>
          </a:solidFill>
          <a:ln w="6350">
            <a:solidFill>
              <a:srgbClr val="4A2A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299008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Precisa de horas de explicação sobre como configurar o agente.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754880" y="2990088"/>
            <a:ext cx="3931920" cy="320040"/>
          </a:xfrm>
          <a:prstGeom prst="rect">
            <a:avLst/>
          </a:prstGeom>
          <a:solidFill>
            <a:srgbClr val="1A2A1A"/>
          </a:solidFill>
          <a:ln w="6350">
            <a:solidFill>
              <a:srgbClr val="2A4A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299008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Lê o SKILL.md em 5 minutos e já entende todo o fluxo esperado.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57200" y="3374136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Atualizar comportamento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3557016"/>
            <a:ext cx="3931920" cy="320040"/>
          </a:xfrm>
          <a:prstGeom prst="rect">
            <a:avLst/>
          </a:prstGeom>
          <a:solidFill>
            <a:srgbClr val="2A1A1A"/>
          </a:solidFill>
          <a:ln w="6350">
            <a:solidFill>
              <a:srgbClr val="4A2A2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3557016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Altera N prompts espalhados em N lugares. Alta chance de inconsistência.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754880" y="3557016"/>
            <a:ext cx="3931920" cy="320040"/>
          </a:xfrm>
          <a:prstGeom prst="rect">
            <a:avLst/>
          </a:prstGeom>
          <a:solidFill>
            <a:srgbClr val="1A2A1A"/>
          </a:solidFill>
          <a:ln w="6350">
            <a:solidFill>
              <a:srgbClr val="2A4A2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3557016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 um único arquivo. Todos os agentes que usam a Skill se atualizam.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57200" y="3941064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Ambiente de produção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57200" y="4123944"/>
            <a:ext cx="3931920" cy="320040"/>
          </a:xfrm>
          <a:prstGeom prst="rect">
            <a:avLst/>
          </a:prstGeom>
          <a:solidFill>
            <a:srgbClr val="2A1A1A"/>
          </a:solidFill>
          <a:ln w="6350">
            <a:solidFill>
              <a:srgbClr val="4A2A2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412394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imprevisível. Difícil garantir SLA de qualidade.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754880" y="4123944"/>
            <a:ext cx="3931920" cy="320040"/>
          </a:xfrm>
          <a:prstGeom prst="rect">
            <a:avLst/>
          </a:prstGeom>
          <a:solidFill>
            <a:srgbClr val="1A2A1A"/>
          </a:solidFill>
          <a:ln w="6350">
            <a:solidFill>
              <a:srgbClr val="2A4A2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46320" y="412394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Comportamento padronizado e auditável. Fácil monitorar e garantir SLA.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8229600" y="4754880"/>
            <a:ext cx="594360" cy="274320"/>
          </a:xfrm>
          <a:prstGeom prst="roundRect">
            <a:avLst>
              <a:gd name="adj" fmla="val 33333"/>
            </a:avLst>
          </a:prstGeom>
          <a:solidFill>
            <a:srgbClr val="7C4DFF"/>
          </a:solidFill>
          <a:ln/>
        </p:spPr>
      </p:sp>
      <p:sp>
        <p:nvSpPr>
          <p:cNvPr id="38" name="Text 36"/>
          <p:cNvSpPr/>
          <p:nvPr/>
        </p:nvSpPr>
        <p:spPr>
          <a:xfrm>
            <a:off x="8229600" y="475488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0F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4DFF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1645920" cy="320040"/>
          </a:xfrm>
          <a:prstGeom prst="roundRect">
            <a:avLst>
              <a:gd name="adj" fmla="val 17143"/>
            </a:avLst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USO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Onde Skills brilham na prática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2606040" cy="1325880"/>
          </a:xfrm>
          <a:prstGeom prst="rect">
            <a:avLst/>
          </a:prstGeom>
          <a:solidFill>
            <a:srgbClr val="1E1E3A"/>
          </a:solidFill>
          <a:ln w="10160">
            <a:solidFill>
              <a:srgbClr val="00BC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417320"/>
            <a:ext cx="502920" cy="502920"/>
          </a:xfrm>
          <a:prstGeom prst="oval">
            <a:avLst/>
          </a:prstGeom>
          <a:solidFill>
            <a:srgbClr val="00BCD4">
              <a:alpha val="45000"/>
            </a:srgbClr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536192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88720" y="14630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94360" y="196596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padroniza checklist de segurança, formato do relatório e critérios de aprovação/reprovação de PRs.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246120" y="1280160"/>
            <a:ext cx="2606040" cy="1325880"/>
          </a:xfrm>
          <a:prstGeom prst="rect">
            <a:avLst/>
          </a:prstGeom>
          <a:solidFill>
            <a:srgbClr val="1E1E3A"/>
          </a:solidFill>
          <a:ln w="10160">
            <a:solidFill>
              <a:srgbClr val="26A69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383280" y="1417320"/>
            <a:ext cx="502920" cy="502920"/>
          </a:xfrm>
          <a:prstGeom prst="oval">
            <a:avLst/>
          </a:prstGeom>
          <a:solidFill>
            <a:srgbClr val="26A69A">
              <a:alpha val="45000"/>
            </a:srgbClr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2152" y="1536192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977640" y="14630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A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de E-mails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3383280" y="196596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define triagem, priorização, tom de resposta e quando escalar. Zero improv do agente.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6035040" y="1280160"/>
            <a:ext cx="2606040" cy="1325880"/>
          </a:xfrm>
          <a:prstGeom prst="rect">
            <a:avLst/>
          </a:prstGeom>
          <a:solidFill>
            <a:srgbClr val="1E1E3A"/>
          </a:solidFill>
          <a:ln w="10160">
            <a:solidFill>
              <a:srgbClr val="5C6BC0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172200" y="1417320"/>
            <a:ext cx="502920" cy="502920"/>
          </a:xfrm>
          <a:prstGeom prst="oval">
            <a:avLst/>
          </a:prstGeom>
          <a:solidFill>
            <a:srgbClr val="5C6BC0">
              <a:alpha val="45000"/>
            </a:srgbClr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1072" y="1536192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766560" y="14630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6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Relatórios Semanais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6172200" y="196596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automatiza coleta de dados, formato do relatório e distribuição — mesmo resultado toda semana.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457200" y="2788920"/>
            <a:ext cx="2606040" cy="1325880"/>
          </a:xfrm>
          <a:prstGeom prst="rect">
            <a:avLst/>
          </a:prstGeom>
          <a:solidFill>
            <a:srgbClr val="1E1E3A"/>
          </a:solidFill>
          <a:ln w="10160">
            <a:solidFill>
              <a:srgbClr val="D4A843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594360" y="2926080"/>
            <a:ext cx="502920" cy="502920"/>
          </a:xfrm>
          <a:prstGeom prst="oval">
            <a:avLst/>
          </a:prstGeom>
          <a:solidFill>
            <a:srgbClr val="D4A843">
              <a:alpha val="45000"/>
            </a:srgbClr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3044952"/>
            <a:ext cx="274320" cy="27432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188720" y="29718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Atendimento ao Cliente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594360" y="34747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garante tom, políticas de reembolso e escalação correta. Reduz erro humano e improviso.</a:t>
            </a:r>
            <a:endParaRPr lang="en-US" sz="900" dirty="0"/>
          </a:p>
        </p:txBody>
      </p:sp>
      <p:sp>
        <p:nvSpPr>
          <p:cNvPr id="26" name="Shape 20"/>
          <p:cNvSpPr/>
          <p:nvPr/>
        </p:nvSpPr>
        <p:spPr>
          <a:xfrm>
            <a:off x="3246120" y="2788920"/>
            <a:ext cx="2606040" cy="1325880"/>
          </a:xfrm>
          <a:prstGeom prst="rect">
            <a:avLst/>
          </a:prstGeom>
          <a:solidFill>
            <a:srgbClr val="1E1E3A"/>
          </a:solidFill>
          <a:ln w="10160">
            <a:solidFill>
              <a:srgbClr val="E91E63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3383280" y="2926080"/>
            <a:ext cx="502920" cy="502920"/>
          </a:xfrm>
          <a:prstGeom prst="oval">
            <a:avLst/>
          </a:prstGeom>
          <a:solidFill>
            <a:srgbClr val="E91E63">
              <a:alpha val="45000"/>
            </a:srgbClr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02152" y="3044952"/>
            <a:ext cx="274320" cy="27432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3977640" y="29718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1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Auditoria de Segurança</a:t>
            </a:r>
            <a:endParaRPr lang="en-US" sz="1200" dirty="0"/>
          </a:p>
        </p:txBody>
      </p:sp>
      <p:sp>
        <p:nvSpPr>
          <p:cNvPr id="30" name="Text 23"/>
          <p:cNvSpPr/>
          <p:nvPr/>
        </p:nvSpPr>
        <p:spPr>
          <a:xfrm>
            <a:off x="3383280" y="34747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faz o agente seguir OWASP Top 10 em ordem, com severidade padronizada e sem pular etapas.</a:t>
            </a:r>
            <a:endParaRPr lang="en-US" sz="900" dirty="0"/>
          </a:p>
        </p:txBody>
      </p:sp>
      <p:sp>
        <p:nvSpPr>
          <p:cNvPr id="31" name="Shape 24"/>
          <p:cNvSpPr/>
          <p:nvPr/>
        </p:nvSpPr>
        <p:spPr>
          <a:xfrm>
            <a:off x="6035040" y="2788920"/>
            <a:ext cx="2606040" cy="1325880"/>
          </a:xfrm>
          <a:prstGeom prst="rect">
            <a:avLst/>
          </a:prstGeom>
          <a:solidFill>
            <a:srgbClr val="1E1E3A"/>
          </a:solidFill>
          <a:ln w="10160">
            <a:solidFill>
              <a:srgbClr val="7C4DFF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6172200" y="2926080"/>
            <a:ext cx="502920" cy="502920"/>
          </a:xfrm>
          <a:prstGeom prst="oval">
            <a:avLst/>
          </a:prstGeom>
          <a:solidFill>
            <a:srgbClr val="7C4DFF">
              <a:alpha val="45000"/>
            </a:srgbClr>
          </a:solidFill>
          <a:ln/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1072" y="3044952"/>
            <a:ext cx="274320" cy="27432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6766560" y="29718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Planejamento de Sprint</a:t>
            </a:r>
            <a:endParaRPr lang="en-US" sz="1200" dirty="0"/>
          </a:p>
        </p:txBody>
      </p:sp>
      <p:sp>
        <p:nvSpPr>
          <p:cNvPr id="35" name="Text 27"/>
          <p:cNvSpPr/>
          <p:nvPr/>
        </p:nvSpPr>
        <p:spPr>
          <a:xfrm>
            <a:off x="6172200" y="34747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conduz o agente pelo ritual: backlog, estimativas, dependências e geração do board — sempre igual.</a:t>
            </a:r>
            <a:endParaRPr lang="en-US" sz="900" dirty="0"/>
          </a:p>
        </p:txBody>
      </p:sp>
      <p:sp>
        <p:nvSpPr>
          <p:cNvPr id="36" name="Shape 28"/>
          <p:cNvSpPr/>
          <p:nvPr/>
        </p:nvSpPr>
        <p:spPr>
          <a:xfrm>
            <a:off x="457200" y="4434840"/>
            <a:ext cx="8229600" cy="365760"/>
          </a:xfrm>
          <a:prstGeom prst="roundRect">
            <a:avLst>
              <a:gd name="adj" fmla="val 15000"/>
            </a:avLst>
          </a:prstGeom>
          <a:solidFill>
            <a:srgbClr val="1E1E3A"/>
          </a:solidFill>
          <a:ln w="6350">
            <a:solidFill>
              <a:srgbClr val="3A3A5E"/>
            </a:solidFill>
            <a:prstDash val="solid"/>
          </a:ln>
        </p:spPr>
      </p:sp>
      <p:sp>
        <p:nvSpPr>
          <p:cNvPr id="37" name="Text 29"/>
          <p:cNvSpPr/>
          <p:nvPr/>
        </p:nvSpPr>
        <p:spPr>
          <a:xfrm>
            <a:off x="640080" y="44348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Dica: </a:t>
            </a:r>
            <a:pPr indent="0" marL="0">
              <a:buNone/>
            </a:pPr>
            <a:r>
              <a:rPr lang="en-US" sz="10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criar, verifique o ClawHub — mais de 5.700 Skills prontas para instalar e adaptar.</a:t>
            </a:r>
            <a:endParaRPr lang="en-US" sz="1000" dirty="0"/>
          </a:p>
        </p:txBody>
      </p:sp>
      <p:sp>
        <p:nvSpPr>
          <p:cNvPr id="38" name="Shape 30"/>
          <p:cNvSpPr/>
          <p:nvPr/>
        </p:nvSpPr>
        <p:spPr>
          <a:xfrm>
            <a:off x="8229600" y="4754880"/>
            <a:ext cx="594360" cy="274320"/>
          </a:xfrm>
          <a:prstGeom prst="roundRect">
            <a:avLst>
              <a:gd name="adj" fmla="val 33333"/>
            </a:avLst>
          </a:prstGeom>
          <a:solidFill>
            <a:srgbClr val="7C4DFF"/>
          </a:solidFill>
          <a:ln/>
        </p:spPr>
      </p:sp>
      <p:sp>
        <p:nvSpPr>
          <p:cNvPr id="39" name="Text 31"/>
          <p:cNvSpPr/>
          <p:nvPr/>
        </p:nvSpPr>
        <p:spPr>
          <a:xfrm>
            <a:off x="8229600" y="475488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0F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4DFF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1645920" cy="320040"/>
          </a:xfrm>
          <a:prstGeom prst="roundRect">
            <a:avLst>
              <a:gd name="adj" fmla="val 17143"/>
            </a:avLst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BOAS PRÁTICAS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Como escrever uma boa Skill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4754880" cy="566928"/>
          </a:xfrm>
          <a:prstGeom prst="rect">
            <a:avLst/>
          </a:prstGeom>
          <a:solidFill>
            <a:srgbClr val="1E1E3A"/>
          </a:solidFill>
          <a:ln w="6350">
            <a:solidFill>
              <a:srgbClr val="2D2D55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408176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1307592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Seja específico nos gatilhos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005840" y="155448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Descreva exatamente quando a Skill deve ser acionada. Gatilhos vagos causam falsos positivos.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457200" y="1938528"/>
            <a:ext cx="4754880" cy="566928"/>
          </a:xfrm>
          <a:prstGeom prst="rect">
            <a:avLst/>
          </a:prstGeom>
          <a:solidFill>
            <a:srgbClr val="1E1E3A"/>
          </a:solidFill>
          <a:ln w="6350">
            <a:solidFill>
              <a:srgbClr val="2D2D55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066544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05840" y="196596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listas numeradas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1005840" y="221284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Fluxos em etapas são mais confiáveis que parágrafos. O agente segue checklist melhor que prosa.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457200" y="2596896"/>
            <a:ext cx="4754880" cy="566928"/>
          </a:xfrm>
          <a:prstGeom prst="rect">
            <a:avLst/>
          </a:prstGeom>
          <a:solidFill>
            <a:srgbClr val="1E1E3A"/>
          </a:solidFill>
          <a:ln w="6350">
            <a:solidFill>
              <a:srgbClr val="2D2D55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724912"/>
            <a:ext cx="292608" cy="29260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05840" y="2624328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Defina stop conditions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1005840" y="287121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Sempre inclua: 'Se X acontecer, pare e pergunte ao usuário'. Evita decisões autônomas arriscadas.</a:t>
            </a:r>
            <a:endParaRPr lang="en-US" sz="850" dirty="0"/>
          </a:p>
        </p:txBody>
      </p:sp>
      <p:sp>
        <p:nvSpPr>
          <p:cNvPr id="18" name="Shape 13"/>
          <p:cNvSpPr/>
          <p:nvPr/>
        </p:nvSpPr>
        <p:spPr>
          <a:xfrm>
            <a:off x="457200" y="3255264"/>
            <a:ext cx="4754880" cy="566928"/>
          </a:xfrm>
          <a:prstGeom prst="rect">
            <a:avLst/>
          </a:prstGeom>
          <a:solidFill>
            <a:srgbClr val="1E1E3A"/>
          </a:solidFill>
          <a:ln w="6350">
            <a:solidFill>
              <a:srgbClr val="2D2D55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3383280"/>
            <a:ext cx="292608" cy="29260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005840" y="3282696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A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Mantenha curta e focada</a:t>
            </a:r>
            <a:endParaRPr lang="en-US" sz="1100" dirty="0"/>
          </a:p>
        </p:txBody>
      </p:sp>
      <p:sp>
        <p:nvSpPr>
          <p:cNvPr id="21" name="Text 15"/>
          <p:cNvSpPr/>
          <p:nvPr/>
        </p:nvSpPr>
        <p:spPr>
          <a:xfrm>
            <a:off x="1005840" y="352958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longas aumentam custo de tokens e diluem o foco. Uma skill = uma responsabilidade.</a:t>
            </a:r>
            <a:endParaRPr lang="en-US" sz="850" dirty="0"/>
          </a:p>
        </p:txBody>
      </p:sp>
      <p:sp>
        <p:nvSpPr>
          <p:cNvPr id="22" name="Shape 16"/>
          <p:cNvSpPr/>
          <p:nvPr/>
        </p:nvSpPr>
        <p:spPr>
          <a:xfrm>
            <a:off x="457200" y="3913632"/>
            <a:ext cx="4754880" cy="566928"/>
          </a:xfrm>
          <a:prstGeom prst="rect">
            <a:avLst/>
          </a:prstGeom>
          <a:solidFill>
            <a:srgbClr val="1E1E3A"/>
          </a:solidFill>
          <a:ln w="6350">
            <a:solidFill>
              <a:srgbClr val="2D2D55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4041648"/>
            <a:ext cx="292608" cy="29260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005840" y="3941064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C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em isolamento</a:t>
            </a:r>
            <a:endParaRPr lang="en-US" sz="1100" dirty="0"/>
          </a:p>
        </p:txBody>
      </p:sp>
      <p:sp>
        <p:nvSpPr>
          <p:cNvPr id="25" name="Text 18"/>
          <p:cNvSpPr/>
          <p:nvPr/>
        </p:nvSpPr>
        <p:spPr>
          <a:xfrm>
            <a:off x="1005840" y="418795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produção, rode a Skill em ambiente controlado. Observe edge cases e refine as regras.</a:t>
            </a:r>
            <a:endParaRPr lang="en-US" sz="850" dirty="0"/>
          </a:p>
        </p:txBody>
      </p:sp>
      <p:sp>
        <p:nvSpPr>
          <p:cNvPr id="26" name="Shape 19"/>
          <p:cNvSpPr/>
          <p:nvPr/>
        </p:nvSpPr>
        <p:spPr>
          <a:xfrm>
            <a:off x="5394960" y="1280160"/>
            <a:ext cx="3291840" cy="3291840"/>
          </a:xfrm>
          <a:prstGeom prst="rect">
            <a:avLst/>
          </a:prstGeom>
          <a:solidFill>
            <a:srgbClr val="1E1E3A"/>
          </a:solidFill>
          <a:ln w="10160">
            <a:solidFill>
              <a:srgbClr val="5C6BC0"/>
            </a:solidFill>
            <a:prstDash val="solid"/>
          </a:ln>
        </p:spPr>
      </p:sp>
      <p:sp>
        <p:nvSpPr>
          <p:cNvPr id="27" name="Text 20"/>
          <p:cNvSpPr/>
          <p:nvPr/>
        </p:nvSpPr>
        <p:spPr>
          <a:xfrm>
            <a:off x="5394960" y="13258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 da aula</a:t>
            </a:r>
            <a:endParaRPr lang="en-US" sz="1300" dirty="0"/>
          </a:p>
        </p:txBody>
      </p:sp>
      <p:sp>
        <p:nvSpPr>
          <p:cNvPr id="28" name="Shape 21"/>
          <p:cNvSpPr/>
          <p:nvPr/>
        </p:nvSpPr>
        <p:spPr>
          <a:xfrm>
            <a:off x="5577840" y="1737360"/>
            <a:ext cx="2926080" cy="438912"/>
          </a:xfrm>
          <a:prstGeom prst="rect">
            <a:avLst/>
          </a:prstGeom>
          <a:solidFill>
            <a:srgbClr val="12122A"/>
          </a:solidFill>
          <a:ln w="6350">
            <a:solidFill>
              <a:srgbClr val="2D2D55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5577840" y="1737360"/>
            <a:ext cx="2926080" cy="36576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0" name="Text 23"/>
          <p:cNvSpPr/>
          <p:nvPr/>
        </p:nvSpPr>
        <p:spPr>
          <a:xfrm>
            <a:off x="5669280" y="1792224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</a:t>
            </a:r>
            <a:endParaRPr lang="en-US" sz="900" dirty="0"/>
          </a:p>
        </p:txBody>
      </p:sp>
      <p:sp>
        <p:nvSpPr>
          <p:cNvPr id="31" name="Text 24"/>
          <p:cNvSpPr/>
          <p:nvPr/>
        </p:nvSpPr>
        <p:spPr>
          <a:xfrm>
            <a:off x="5669280" y="19568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Agentes sem skill improvisam e falham.</a:t>
            </a:r>
            <a:endParaRPr lang="en-US" sz="850" dirty="0"/>
          </a:p>
        </p:txBody>
      </p:sp>
      <p:sp>
        <p:nvSpPr>
          <p:cNvPr id="32" name="Shape 25"/>
          <p:cNvSpPr/>
          <p:nvPr/>
        </p:nvSpPr>
        <p:spPr>
          <a:xfrm>
            <a:off x="5577840" y="2267712"/>
            <a:ext cx="2926080" cy="438912"/>
          </a:xfrm>
          <a:prstGeom prst="rect">
            <a:avLst/>
          </a:prstGeom>
          <a:solidFill>
            <a:srgbClr val="12122A"/>
          </a:solidFill>
          <a:ln w="6350">
            <a:solidFill>
              <a:srgbClr val="2D2D55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5577840" y="2267712"/>
            <a:ext cx="2926080" cy="36576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34" name="Text 27"/>
          <p:cNvSpPr/>
          <p:nvPr/>
        </p:nvSpPr>
        <p:spPr>
          <a:xfrm>
            <a:off x="5669280" y="2322576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Solução</a:t>
            </a:r>
            <a:endParaRPr lang="en-US" sz="900" dirty="0"/>
          </a:p>
        </p:txBody>
      </p:sp>
      <p:sp>
        <p:nvSpPr>
          <p:cNvPr id="35" name="Text 28"/>
          <p:cNvSpPr/>
          <p:nvPr/>
        </p:nvSpPr>
        <p:spPr>
          <a:xfrm>
            <a:off x="5669280" y="248716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= playbook injetado no contexto.</a:t>
            </a:r>
            <a:endParaRPr lang="en-US" sz="850" dirty="0"/>
          </a:p>
        </p:txBody>
      </p:sp>
      <p:sp>
        <p:nvSpPr>
          <p:cNvPr id="36" name="Shape 29"/>
          <p:cNvSpPr/>
          <p:nvPr/>
        </p:nvSpPr>
        <p:spPr>
          <a:xfrm>
            <a:off x="5577840" y="2798064"/>
            <a:ext cx="2926080" cy="438912"/>
          </a:xfrm>
          <a:prstGeom prst="rect">
            <a:avLst/>
          </a:prstGeom>
          <a:solidFill>
            <a:srgbClr val="12122A"/>
          </a:solidFill>
          <a:ln w="6350">
            <a:solidFill>
              <a:srgbClr val="2D2D55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5577840" y="2798064"/>
            <a:ext cx="2926080" cy="36576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8" name="Text 31"/>
          <p:cNvSpPr/>
          <p:nvPr/>
        </p:nvSpPr>
        <p:spPr>
          <a:xfrm>
            <a:off x="5669280" y="285292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Ganhos</a:t>
            </a:r>
            <a:endParaRPr lang="en-US" sz="900" dirty="0"/>
          </a:p>
        </p:txBody>
      </p:sp>
      <p:sp>
        <p:nvSpPr>
          <p:cNvPr id="39" name="Text 32"/>
          <p:cNvSpPr/>
          <p:nvPr/>
        </p:nvSpPr>
        <p:spPr>
          <a:xfrm>
            <a:off x="5669280" y="30175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Consistência, reúso, manutenção fácil.</a:t>
            </a:r>
            <a:endParaRPr lang="en-US" sz="850" dirty="0"/>
          </a:p>
        </p:txBody>
      </p:sp>
      <p:sp>
        <p:nvSpPr>
          <p:cNvPr id="40" name="Shape 33"/>
          <p:cNvSpPr/>
          <p:nvPr/>
        </p:nvSpPr>
        <p:spPr>
          <a:xfrm>
            <a:off x="5577840" y="3328416"/>
            <a:ext cx="2926080" cy="438912"/>
          </a:xfrm>
          <a:prstGeom prst="rect">
            <a:avLst/>
          </a:prstGeom>
          <a:solidFill>
            <a:srgbClr val="12122A"/>
          </a:solidFill>
          <a:ln w="6350">
            <a:solidFill>
              <a:srgbClr val="2D2D55"/>
            </a:solidFill>
            <a:prstDash val="solid"/>
          </a:ln>
        </p:spPr>
      </p:sp>
      <p:sp>
        <p:nvSpPr>
          <p:cNvPr id="41" name="Shape 34"/>
          <p:cNvSpPr/>
          <p:nvPr/>
        </p:nvSpPr>
        <p:spPr>
          <a:xfrm>
            <a:off x="5577840" y="3328416"/>
            <a:ext cx="292608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2" name="Text 35"/>
          <p:cNvSpPr/>
          <p:nvPr/>
        </p:nvSpPr>
        <p:spPr>
          <a:xfrm>
            <a:off x="5669280" y="338328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Anatomia</a:t>
            </a:r>
            <a:endParaRPr lang="en-US" sz="900" dirty="0"/>
          </a:p>
        </p:txBody>
      </p:sp>
      <p:sp>
        <p:nvSpPr>
          <p:cNvPr id="43" name="Text 36"/>
          <p:cNvSpPr/>
          <p:nvPr/>
        </p:nvSpPr>
        <p:spPr>
          <a:xfrm>
            <a:off x="5669280" y="354787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Frontmatter + fluxo + regras.</a:t>
            </a:r>
            <a:endParaRPr lang="en-US" sz="850" dirty="0"/>
          </a:p>
        </p:txBody>
      </p:sp>
      <p:sp>
        <p:nvSpPr>
          <p:cNvPr id="44" name="Shape 37"/>
          <p:cNvSpPr/>
          <p:nvPr/>
        </p:nvSpPr>
        <p:spPr>
          <a:xfrm>
            <a:off x="5577840" y="3858768"/>
            <a:ext cx="2926080" cy="438912"/>
          </a:xfrm>
          <a:prstGeom prst="rect">
            <a:avLst/>
          </a:prstGeom>
          <a:solidFill>
            <a:srgbClr val="12122A"/>
          </a:solidFill>
          <a:ln w="6350">
            <a:solidFill>
              <a:srgbClr val="2D2D55"/>
            </a:solidFill>
            <a:prstDash val="solid"/>
          </a:ln>
        </p:spPr>
      </p:sp>
      <p:sp>
        <p:nvSpPr>
          <p:cNvPr id="45" name="Shape 38"/>
          <p:cNvSpPr/>
          <p:nvPr/>
        </p:nvSpPr>
        <p:spPr>
          <a:xfrm>
            <a:off x="5577840" y="3858768"/>
            <a:ext cx="2926080" cy="36576"/>
          </a:xfrm>
          <a:prstGeom prst="rect">
            <a:avLst/>
          </a:prstGeom>
          <a:solidFill>
            <a:srgbClr val="7C4DFF"/>
          </a:solidFill>
          <a:ln/>
        </p:spPr>
      </p:sp>
      <p:sp>
        <p:nvSpPr>
          <p:cNvPr id="46" name="Text 39"/>
          <p:cNvSpPr/>
          <p:nvPr/>
        </p:nvSpPr>
        <p:spPr>
          <a:xfrm>
            <a:off x="5669280" y="391363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Usos</a:t>
            </a:r>
            <a:endParaRPr lang="en-US" sz="900" dirty="0"/>
          </a:p>
        </p:txBody>
      </p:sp>
      <p:sp>
        <p:nvSpPr>
          <p:cNvPr id="47" name="Text 40"/>
          <p:cNvSpPr/>
          <p:nvPr/>
        </p:nvSpPr>
        <p:spPr>
          <a:xfrm>
            <a:off x="5669280" y="407822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review, e-mail, relatórios e +.</a:t>
            </a:r>
            <a:endParaRPr lang="en-US" sz="850" dirty="0"/>
          </a:p>
        </p:txBody>
      </p:sp>
      <p:sp>
        <p:nvSpPr>
          <p:cNvPr id="48" name="Shape 41"/>
          <p:cNvSpPr/>
          <p:nvPr/>
        </p:nvSpPr>
        <p:spPr>
          <a:xfrm>
            <a:off x="8229600" y="4754880"/>
            <a:ext cx="594360" cy="274320"/>
          </a:xfrm>
          <a:prstGeom prst="roundRect">
            <a:avLst>
              <a:gd name="adj" fmla="val 33333"/>
            </a:avLst>
          </a:prstGeom>
          <a:solidFill>
            <a:srgbClr val="7C4DFF"/>
          </a:solidFill>
          <a:ln/>
        </p:spPr>
      </p:sp>
      <p:sp>
        <p:nvSpPr>
          <p:cNvPr id="49" name="Text 42"/>
          <p:cNvSpPr/>
          <p:nvPr/>
        </p:nvSpPr>
        <p:spPr>
          <a:xfrm>
            <a:off x="8229600" y="475488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0F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6A69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1463040" cy="320040"/>
          </a:xfrm>
          <a:prstGeom prst="roundRect">
            <a:avLst>
              <a:gd name="adj" fmla="val 17143"/>
            </a:avLst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ECOSSISTEMA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Skills vs Tools vs MCP vs Subagentes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peça tem um papel diferente no sistema de agentes. Entenda quando usar cada uma.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1920240" cy="3017520"/>
          </a:xfrm>
          <a:prstGeom prst="rect">
            <a:avLst/>
          </a:prstGeom>
          <a:solidFill>
            <a:srgbClr val="1E1E3A"/>
          </a:solidFill>
          <a:ln w="10160">
            <a:solidFill>
              <a:srgbClr val="00BC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7280" y="1737360"/>
            <a:ext cx="548640" cy="548640"/>
          </a:xfrm>
          <a:prstGeom prst="oval">
            <a:avLst/>
          </a:prstGeom>
          <a:solidFill>
            <a:srgbClr val="00BCD4">
              <a:alpha val="45000"/>
            </a:srgbClr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6152" y="1856232"/>
            <a:ext cx="320040" cy="3200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48640" y="23317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BC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Skills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48640" y="2697480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548640" y="286207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Instruções em Markdown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48640" y="3200400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usar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548640" y="336499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Ensinar o agente a pensar e seguir um fluxo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548640" y="3886200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Analogia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548640" y="405079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manual de instruções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2560320" y="1600200"/>
            <a:ext cx="1920240" cy="3017520"/>
          </a:xfrm>
          <a:prstGeom prst="rect">
            <a:avLst/>
          </a:prstGeom>
          <a:solidFill>
            <a:srgbClr val="1E1E3A"/>
          </a:solidFill>
          <a:ln w="10160">
            <a:solidFill>
              <a:srgbClr val="FF980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200400" y="1737360"/>
            <a:ext cx="548640" cy="548640"/>
          </a:xfrm>
          <a:prstGeom prst="oval">
            <a:avLst/>
          </a:prstGeom>
          <a:solidFill>
            <a:srgbClr val="FF9800">
              <a:alpha val="45000"/>
            </a:srgbClr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9272" y="1856232"/>
            <a:ext cx="320040" cy="32004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2651760" y="23317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98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Tools</a:t>
            </a:r>
            <a:endParaRPr lang="en-US" sz="1500" dirty="0"/>
          </a:p>
        </p:txBody>
      </p:sp>
      <p:sp>
        <p:nvSpPr>
          <p:cNvPr id="21" name="Text 17"/>
          <p:cNvSpPr/>
          <p:nvPr/>
        </p:nvSpPr>
        <p:spPr>
          <a:xfrm>
            <a:off x="2651760" y="2697480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2651760" y="286207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Funções executáveis (código)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2651760" y="3200400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usar</a:t>
            </a:r>
            <a:endParaRPr lang="en-US" sz="800" dirty="0"/>
          </a:p>
        </p:txBody>
      </p:sp>
      <p:sp>
        <p:nvSpPr>
          <p:cNvPr id="24" name="Text 20"/>
          <p:cNvSpPr/>
          <p:nvPr/>
        </p:nvSpPr>
        <p:spPr>
          <a:xfrm>
            <a:off x="2651760" y="336499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agente precisa agir no mundo (API, arquivo, BD)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2651760" y="3886200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Analogia</a:t>
            </a:r>
            <a:endParaRPr lang="en-US" sz="800" dirty="0"/>
          </a:p>
        </p:txBody>
      </p:sp>
      <p:sp>
        <p:nvSpPr>
          <p:cNvPr id="26" name="Text 22"/>
          <p:cNvSpPr/>
          <p:nvPr/>
        </p:nvSpPr>
        <p:spPr>
          <a:xfrm>
            <a:off x="2651760" y="405079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ferramentas da caixa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4663440" y="1600200"/>
            <a:ext cx="1920240" cy="3017520"/>
          </a:xfrm>
          <a:prstGeom prst="rect">
            <a:avLst/>
          </a:prstGeom>
          <a:solidFill>
            <a:srgbClr val="1E1E3A"/>
          </a:solidFill>
          <a:ln w="10160">
            <a:solidFill>
              <a:srgbClr val="4CAF50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5303520" y="1737360"/>
            <a:ext cx="548640" cy="548640"/>
          </a:xfrm>
          <a:prstGeom prst="oval">
            <a:avLst/>
          </a:prstGeom>
          <a:solidFill>
            <a:srgbClr val="4CAF50">
              <a:alpha val="45000"/>
            </a:srgbClr>
          </a:solidFill>
          <a:ln/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2392" y="1856232"/>
            <a:ext cx="320040" cy="320040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4754880" y="23317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CAF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MCP</a:t>
            </a:r>
            <a:endParaRPr lang="en-US" sz="1500" dirty="0"/>
          </a:p>
        </p:txBody>
      </p:sp>
      <p:sp>
        <p:nvSpPr>
          <p:cNvPr id="31" name="Text 26"/>
          <p:cNvSpPr/>
          <p:nvPr/>
        </p:nvSpPr>
        <p:spPr>
          <a:xfrm>
            <a:off x="4754880" y="2697480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</a:t>
            </a:r>
            <a:endParaRPr lang="en-US" sz="800" dirty="0"/>
          </a:p>
        </p:txBody>
      </p:sp>
      <p:sp>
        <p:nvSpPr>
          <p:cNvPr id="32" name="Text 27"/>
          <p:cNvSpPr/>
          <p:nvPr/>
        </p:nvSpPr>
        <p:spPr>
          <a:xfrm>
            <a:off x="4754880" y="286207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 de conexão</a:t>
            </a:r>
            <a:endParaRPr lang="en-US" sz="900" dirty="0"/>
          </a:p>
        </p:txBody>
      </p:sp>
      <p:sp>
        <p:nvSpPr>
          <p:cNvPr id="33" name="Text 28"/>
          <p:cNvSpPr/>
          <p:nvPr/>
        </p:nvSpPr>
        <p:spPr>
          <a:xfrm>
            <a:off x="4754880" y="3200400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usar</a:t>
            </a:r>
            <a:endParaRPr lang="en-US" sz="800" dirty="0"/>
          </a:p>
        </p:txBody>
      </p:sp>
      <p:sp>
        <p:nvSpPr>
          <p:cNvPr id="34" name="Text 29"/>
          <p:cNvSpPr/>
          <p:nvPr/>
        </p:nvSpPr>
        <p:spPr>
          <a:xfrm>
            <a:off x="4754880" y="336499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Conectar o agente a serviços externos padronizados</a:t>
            </a:r>
            <a:endParaRPr lang="en-US" sz="900" dirty="0"/>
          </a:p>
        </p:txBody>
      </p:sp>
      <p:sp>
        <p:nvSpPr>
          <p:cNvPr id="35" name="Text 30"/>
          <p:cNvSpPr/>
          <p:nvPr/>
        </p:nvSpPr>
        <p:spPr>
          <a:xfrm>
            <a:off x="4754880" y="3886200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Analogia</a:t>
            </a:r>
            <a:endParaRPr lang="en-US" sz="800" dirty="0"/>
          </a:p>
        </p:txBody>
      </p:sp>
      <p:sp>
        <p:nvSpPr>
          <p:cNvPr id="36" name="Text 31"/>
          <p:cNvSpPr/>
          <p:nvPr/>
        </p:nvSpPr>
        <p:spPr>
          <a:xfrm>
            <a:off x="4754880" y="405079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cabo de rede / adaptador</a:t>
            </a:r>
            <a:endParaRPr lang="en-US" sz="1000" dirty="0"/>
          </a:p>
        </p:txBody>
      </p:sp>
      <p:sp>
        <p:nvSpPr>
          <p:cNvPr id="37" name="Shape 32"/>
          <p:cNvSpPr/>
          <p:nvPr/>
        </p:nvSpPr>
        <p:spPr>
          <a:xfrm>
            <a:off x="6766560" y="1600200"/>
            <a:ext cx="1920240" cy="3017520"/>
          </a:xfrm>
          <a:prstGeom prst="rect">
            <a:avLst/>
          </a:prstGeom>
          <a:solidFill>
            <a:srgbClr val="1E1E3A"/>
          </a:solidFill>
          <a:ln w="10160">
            <a:solidFill>
              <a:srgbClr val="7C4DFF"/>
            </a:solidFill>
            <a:prstDash val="solid"/>
          </a:ln>
        </p:spPr>
      </p:sp>
      <p:sp>
        <p:nvSpPr>
          <p:cNvPr id="38" name="Shape 33"/>
          <p:cNvSpPr/>
          <p:nvPr/>
        </p:nvSpPr>
        <p:spPr>
          <a:xfrm>
            <a:off x="7406640" y="1737360"/>
            <a:ext cx="548640" cy="548640"/>
          </a:xfrm>
          <a:prstGeom prst="oval">
            <a:avLst/>
          </a:prstGeom>
          <a:solidFill>
            <a:srgbClr val="7C4DFF">
              <a:alpha val="45000"/>
            </a:srgbClr>
          </a:solidFill>
          <a:ln/>
        </p:spPr>
      </p:sp>
      <p:pic>
        <p:nvPicPr>
          <p:cNvPr id="3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5512" y="1856232"/>
            <a:ext cx="320040" cy="320040"/>
          </a:xfrm>
          <a:prstGeom prst="rect">
            <a:avLst/>
          </a:prstGeom>
        </p:spPr>
      </p:pic>
      <p:sp>
        <p:nvSpPr>
          <p:cNvPr id="40" name="Text 34"/>
          <p:cNvSpPr/>
          <p:nvPr/>
        </p:nvSpPr>
        <p:spPr>
          <a:xfrm>
            <a:off x="6858000" y="23317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C4D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Subagentes</a:t>
            </a:r>
            <a:endParaRPr lang="en-US" sz="1500" dirty="0"/>
          </a:p>
        </p:txBody>
      </p:sp>
      <p:sp>
        <p:nvSpPr>
          <p:cNvPr id="41" name="Text 35"/>
          <p:cNvSpPr/>
          <p:nvPr/>
        </p:nvSpPr>
        <p:spPr>
          <a:xfrm>
            <a:off x="6858000" y="2697480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</a:t>
            </a:r>
            <a:endParaRPr lang="en-US" sz="800" dirty="0"/>
          </a:p>
        </p:txBody>
      </p:sp>
      <p:sp>
        <p:nvSpPr>
          <p:cNvPr id="42" name="Text 36"/>
          <p:cNvSpPr/>
          <p:nvPr/>
        </p:nvSpPr>
        <p:spPr>
          <a:xfrm>
            <a:off x="6858000" y="286207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Agentes especializados</a:t>
            </a:r>
            <a:endParaRPr lang="en-US" sz="900" dirty="0"/>
          </a:p>
        </p:txBody>
      </p:sp>
      <p:sp>
        <p:nvSpPr>
          <p:cNvPr id="43" name="Text 37"/>
          <p:cNvSpPr/>
          <p:nvPr/>
        </p:nvSpPr>
        <p:spPr>
          <a:xfrm>
            <a:off x="6858000" y="3200400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usar</a:t>
            </a:r>
            <a:endParaRPr lang="en-US" sz="800" dirty="0"/>
          </a:p>
        </p:txBody>
      </p:sp>
      <p:sp>
        <p:nvSpPr>
          <p:cNvPr id="44" name="Text 38"/>
          <p:cNvSpPr/>
          <p:nvPr/>
        </p:nvSpPr>
        <p:spPr>
          <a:xfrm>
            <a:off x="6858000" y="336499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Delegar subtarefas complexas a outro agente</a:t>
            </a:r>
            <a:endParaRPr lang="en-US" sz="900" dirty="0"/>
          </a:p>
        </p:txBody>
      </p:sp>
      <p:sp>
        <p:nvSpPr>
          <p:cNvPr id="45" name="Text 39"/>
          <p:cNvSpPr/>
          <p:nvPr/>
        </p:nvSpPr>
        <p:spPr>
          <a:xfrm>
            <a:off x="6858000" y="3886200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Analogia</a:t>
            </a:r>
            <a:endParaRPr lang="en-US" sz="800" dirty="0"/>
          </a:p>
        </p:txBody>
      </p:sp>
      <p:sp>
        <p:nvSpPr>
          <p:cNvPr id="46" name="Text 40"/>
          <p:cNvSpPr/>
          <p:nvPr/>
        </p:nvSpPr>
        <p:spPr>
          <a:xfrm>
            <a:off x="6858000" y="405079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C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Membros da equipe</a:t>
            </a:r>
            <a:endParaRPr lang="en-US" sz="1000" dirty="0"/>
          </a:p>
        </p:txBody>
      </p:sp>
      <p:sp>
        <p:nvSpPr>
          <p:cNvPr id="47" name="Shape 41"/>
          <p:cNvSpPr/>
          <p:nvPr/>
        </p:nvSpPr>
        <p:spPr>
          <a:xfrm>
            <a:off x="8229600" y="4754880"/>
            <a:ext cx="594360" cy="274320"/>
          </a:xfrm>
          <a:prstGeom prst="roundRect">
            <a:avLst>
              <a:gd name="adj" fmla="val 33333"/>
            </a:avLst>
          </a:prstGeom>
          <a:solidFill>
            <a:srgbClr val="7C4DFF"/>
          </a:solidFill>
          <a:ln/>
        </p:spPr>
      </p:sp>
      <p:sp>
        <p:nvSpPr>
          <p:cNvPr id="48" name="Text 42"/>
          <p:cNvSpPr/>
          <p:nvPr/>
        </p:nvSpPr>
        <p:spPr>
          <a:xfrm>
            <a:off x="8229600" y="475488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0F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457200"/>
            <a:ext cx="6400800" cy="6400800"/>
          </a:xfrm>
          <a:prstGeom prst="oval">
            <a:avLst/>
          </a:prstGeom>
          <a:solidFill>
            <a:srgbClr val="1A1A3D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2743200"/>
            <a:ext cx="3657600" cy="3657600"/>
          </a:xfrm>
          <a:prstGeom prst="oval">
            <a:avLst/>
          </a:prstGeom>
          <a:solidFill>
            <a:srgbClr val="26A69A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0" y="-914400"/>
            <a:ext cx="4572000" cy="4572000"/>
          </a:xfrm>
          <a:prstGeom prst="oval">
            <a:avLst/>
          </a:prstGeom>
          <a:solidFill>
            <a:srgbClr val="7C4DFF">
              <a:alpha val="1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CAF5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731520"/>
            <a:ext cx="914400" cy="914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17373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Próximo passo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1371600" y="24688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 sua primeira Skill e veja o agente se transformar.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097280" y="3200400"/>
            <a:ext cx="2194560" cy="822960"/>
          </a:xfrm>
          <a:prstGeom prst="rect">
            <a:avLst/>
          </a:prstGeom>
          <a:solidFill>
            <a:srgbClr val="1E1E3A"/>
          </a:solidFill>
          <a:ln w="6350">
            <a:solidFill>
              <a:srgbClr val="2D2D5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920240" y="3246120"/>
            <a:ext cx="365760" cy="365760"/>
          </a:xfrm>
          <a:prstGeom prst="oval">
            <a:avLst/>
          </a:prstGeom>
          <a:solidFill>
            <a:srgbClr val="4CAF50"/>
          </a:solidFill>
          <a:ln/>
        </p:spPr>
      </p:sp>
      <p:sp>
        <p:nvSpPr>
          <p:cNvPr id="11" name="Text 8"/>
          <p:cNvSpPr/>
          <p:nvPr/>
        </p:nvSpPr>
        <p:spPr>
          <a:xfrm>
            <a:off x="1920240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0F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188720" y="36576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Identifique uma tarefa repetitiva do seu agente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3566160" y="3200400"/>
            <a:ext cx="2194560" cy="822960"/>
          </a:xfrm>
          <a:prstGeom prst="rect">
            <a:avLst/>
          </a:prstGeom>
          <a:solidFill>
            <a:srgbClr val="1E1E3A"/>
          </a:solidFill>
          <a:ln w="6350">
            <a:solidFill>
              <a:srgbClr val="2D2D5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389120" y="3246120"/>
            <a:ext cx="365760" cy="365760"/>
          </a:xfrm>
          <a:prstGeom prst="oval">
            <a:avLst/>
          </a:prstGeom>
          <a:solidFill>
            <a:srgbClr val="4CAF50"/>
          </a:solidFill>
          <a:ln/>
        </p:spPr>
      </p:sp>
      <p:sp>
        <p:nvSpPr>
          <p:cNvPr id="15" name="Text 12"/>
          <p:cNvSpPr/>
          <p:nvPr/>
        </p:nvSpPr>
        <p:spPr>
          <a:xfrm>
            <a:off x="4389120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0F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657600" y="36576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Escreva um SKILL.md com frontmatter, fluxo e regras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6035040" y="3200400"/>
            <a:ext cx="2194560" cy="822960"/>
          </a:xfrm>
          <a:prstGeom prst="rect">
            <a:avLst/>
          </a:prstGeom>
          <a:solidFill>
            <a:srgbClr val="1E1E3A"/>
          </a:solidFill>
          <a:ln w="6350">
            <a:solidFill>
              <a:srgbClr val="2D2D55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858000" y="3246120"/>
            <a:ext cx="365760" cy="365760"/>
          </a:xfrm>
          <a:prstGeom prst="oval">
            <a:avLst/>
          </a:prstGeom>
          <a:solidFill>
            <a:srgbClr val="4CAF50"/>
          </a:solidFill>
          <a:ln/>
        </p:spPr>
      </p:sp>
      <p:sp>
        <p:nvSpPr>
          <p:cNvPr id="19" name="Text 16"/>
          <p:cNvSpPr/>
          <p:nvPr/>
        </p:nvSpPr>
        <p:spPr>
          <a:xfrm>
            <a:off x="6858000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0F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126480" y="36576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Teste, refine e distribua para toda a equipe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2286000" y="4297680"/>
            <a:ext cx="4572000" cy="365760"/>
          </a:xfrm>
          <a:prstGeom prst="roundRect">
            <a:avLst>
              <a:gd name="adj" fmla="val 15000"/>
            </a:avLst>
          </a:prstGeom>
          <a:solidFill>
            <a:srgbClr val="1E1E3A"/>
          </a:solidFill>
          <a:ln w="6350">
            <a:solidFill>
              <a:srgbClr val="3A3A5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286000" y="4297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· Tools · MCP · Subagentes — Série de aulas sobre sistemas de agentes de IA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8229600" y="4754880"/>
            <a:ext cx="594360" cy="274320"/>
          </a:xfrm>
          <a:prstGeom prst="roundRect">
            <a:avLst>
              <a:gd name="adj" fmla="val 33333"/>
            </a:avLst>
          </a:prstGeom>
          <a:solidFill>
            <a:srgbClr val="7C4DFF"/>
          </a:solidFill>
          <a:ln/>
        </p:spPr>
      </p:sp>
      <p:sp>
        <p:nvSpPr>
          <p:cNvPr id="24" name="Text 21"/>
          <p:cNvSpPr/>
          <p:nvPr/>
        </p:nvSpPr>
        <p:spPr>
          <a:xfrm>
            <a:off x="8229600" y="475488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Por que usar Skills? - Módulo 1</dc:title>
  <dc:subject>PptxGenJS Presentation</dc:subject>
  <dc:creator>Rodrigo</dc:creator>
  <cp:lastModifiedBy>Rodrigo</cp:lastModifiedBy>
  <cp:revision>1</cp:revision>
  <dcterms:created xsi:type="dcterms:W3CDTF">2026-03-17T02:58:27Z</dcterms:created>
  <dcterms:modified xsi:type="dcterms:W3CDTF">2026-03-17T02:58:27Z</dcterms:modified>
</cp:coreProperties>
</file>