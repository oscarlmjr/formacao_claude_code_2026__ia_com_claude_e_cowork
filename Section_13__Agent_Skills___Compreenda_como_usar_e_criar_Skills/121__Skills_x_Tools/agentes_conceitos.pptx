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-2286000"/>
            <a:ext cx="6400800" cy="6400800"/>
          </a:xfrm>
          <a:prstGeom prst="oval">
            <a:avLst/>
          </a:prstGeom>
          <a:solidFill>
            <a:srgbClr val="5C6BC0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2743200"/>
            <a:ext cx="4572000" cy="4572000"/>
          </a:xfrm>
          <a:prstGeom prst="oval">
            <a:avLst/>
          </a:prstGeom>
          <a:solidFill>
            <a:srgbClr val="26A69A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2286000" cy="7315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0" y="0"/>
            <a:ext cx="2286000" cy="73152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0" y="0"/>
            <a:ext cx="2286000" cy="7315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Shape 6"/>
          <p:cNvSpPr/>
          <p:nvPr/>
        </p:nvSpPr>
        <p:spPr>
          <a:xfrm>
            <a:off x="2926080" y="640080"/>
            <a:ext cx="3291840" cy="320040"/>
          </a:xfrm>
          <a:prstGeom prst="roundRect">
            <a:avLst>
              <a:gd name="adj" fmla="val 17143"/>
            </a:avLst>
          </a:prstGeom>
          <a:solidFill>
            <a:srgbClr val="26A69A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640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CONCEITOS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 · Tool · MCP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44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Subagentes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371600" y="274320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Entenda as diferenças entre os quatro pilares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sistemas de agentes de IA modernos.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600200" y="3566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125980" y="36301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7C4DFF"/>
          </a:solidFill>
          <a:ln/>
        </p:spPr>
      </p:sp>
      <p:sp>
        <p:nvSpPr>
          <p:cNvPr id="15" name="Text 13"/>
          <p:cNvSpPr/>
          <p:nvPr/>
        </p:nvSpPr>
        <p:spPr>
          <a:xfrm>
            <a:off x="160020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154680" y="3566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80460" y="36301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00BCD4"/>
          </a:solidFill>
          <a:ln/>
        </p:spPr>
      </p:sp>
      <p:sp>
        <p:nvSpPr>
          <p:cNvPr id="18" name="Text 16"/>
          <p:cNvSpPr/>
          <p:nvPr/>
        </p:nvSpPr>
        <p:spPr>
          <a:xfrm>
            <a:off x="315468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3566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4940" y="36301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4CAF50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263640" y="356616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9420" y="3630168"/>
            <a:ext cx="228600" cy="228600"/>
          </a:xfrm>
          <a:prstGeom prst="roundRect">
            <a:avLst>
              <a:gd name="adj" fmla="val 16000"/>
            </a:avLst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388620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37160"/>
            <a:ext cx="164592" cy="164592"/>
          </a:xfrm>
          <a:prstGeom prst="oval">
            <a:avLst/>
          </a:prstGeom>
          <a:solidFill>
            <a:srgbClr val="7C4DFF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5" name="Shape 3"/>
          <p:cNvSpPr/>
          <p:nvPr/>
        </p:nvSpPr>
        <p:spPr>
          <a:xfrm>
            <a:off x="452628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02920"/>
            <a:ext cx="777240" cy="777240"/>
          </a:xfrm>
          <a:prstGeom prst="oval">
            <a:avLst/>
          </a:prstGeom>
          <a:solidFill>
            <a:srgbClr val="7C4DFF">
              <a:alpha val="5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C4D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Skill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17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playbook do agente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554480"/>
            <a:ext cx="260604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arquivo Markdown (SKILL.md) com instruções que ensinam o agente a seguir um fluxo específico de trabalho.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554480"/>
            <a:ext cx="260604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injetado no contexto (system prompt) do modelo quando relevante. Não executa código — apenas guia o raciocínio do LLM.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554480"/>
            <a:ext cx="260604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manual de procedimentos que um funcionário lê antes de iniciar uma tarefa.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1E1E3A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"code-review": instrui o agente a checar SQL injection, XSS e autenticação sempre nessa ordem, com severidade numerada.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84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age?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5584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modelo, guiado pelo texto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3504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4476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o agente deve pensar/agir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137160"/>
            <a:ext cx="164592" cy="164592"/>
          </a:xfrm>
          <a:prstGeom prst="oval">
            <a:avLst/>
          </a:prstGeom>
          <a:solidFill>
            <a:srgbClr val="00BCD4"/>
          </a:solidFill>
          <a:ln/>
        </p:spPr>
      </p:sp>
      <p:sp>
        <p:nvSpPr>
          <p:cNvPr id="5" name="Shape 3"/>
          <p:cNvSpPr/>
          <p:nvPr/>
        </p:nvSpPr>
        <p:spPr>
          <a:xfrm>
            <a:off x="452628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02920"/>
            <a:ext cx="777240" cy="777240"/>
          </a:xfrm>
          <a:prstGeom prst="oval">
            <a:avLst/>
          </a:prstGeom>
          <a:solidFill>
            <a:srgbClr val="00BCD4">
              <a:alpha val="5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C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17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capacidade de execução real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554480"/>
            <a:ext cx="26060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função com schema definido (nome, descrição, parâmetros) que o modelo pode chamar. A execução acontece fora do LLM.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554480"/>
            <a:ext cx="26060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modelo decide quando chamar a tool, envia os parâmetros, e recebe o resultado de volta para continuar o raciocínio.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554480"/>
            <a:ext cx="2606040" cy="36576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botão que o agente aperta — ele não sabe o que acontece por dentro, só recebe o resultado.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1E1E3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comuns: web_search, bash (executa terminal), read_file, send_email, get_weather.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84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age?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5584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externo; resultado volta ao modelo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3504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4476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o agente pode executar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5" name="Shape 3"/>
          <p:cNvSpPr/>
          <p:nvPr/>
        </p:nvSpPr>
        <p:spPr>
          <a:xfrm>
            <a:off x="4526280" y="137160"/>
            <a:ext cx="164592" cy="164592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02920"/>
            <a:ext cx="777240" cy="777240"/>
          </a:xfrm>
          <a:prstGeom prst="oval">
            <a:avLst/>
          </a:prstGeom>
          <a:solidFill>
            <a:srgbClr val="4CAF50">
              <a:alpha val="5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17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protocolo de conexão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554480"/>
            <a:ext cx="26060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— padrão criado pela Anthropic para expor tools e dados ao modelo de forma consistente e interoperável.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554480"/>
            <a:ext cx="26060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Servidores MCP publicam suas tools num formato universal. Qualquer cliente compatível descobre e usa essas tools sem integração custom.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554480"/>
            <a:ext cx="2606040" cy="36576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HTTP para a web: não é o conteúdo, é o protocolo que permite qualquer browser acessar qualquer site.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1E1E3A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do Gmail expõe tools como list_emails, send_email. O agente as usa sem nenhum código adicional.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infraestrutura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84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age?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5584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externo (infraestrutura)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3504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4476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como tools externas são conectadas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Shape 1"/>
          <p:cNvSpPr/>
          <p:nvPr/>
        </p:nvSpPr>
        <p:spPr>
          <a:xfrm>
            <a:off x="388620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4" name="Shape 2"/>
          <p:cNvSpPr/>
          <p:nvPr/>
        </p:nvSpPr>
        <p:spPr>
          <a:xfrm>
            <a:off x="420624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5" name="Shape 3"/>
          <p:cNvSpPr/>
          <p:nvPr/>
        </p:nvSpPr>
        <p:spPr>
          <a:xfrm>
            <a:off x="4526280" y="137160"/>
            <a:ext cx="164592" cy="164592"/>
          </a:xfrm>
          <a:prstGeom prst="oval">
            <a:avLst/>
          </a:prstGeom>
          <a:solidFill>
            <a:srgbClr val="3A3A5E"/>
          </a:solidFill>
          <a:ln/>
        </p:spPr>
      </p:sp>
      <p:sp>
        <p:nvSpPr>
          <p:cNvPr id="6" name="Shape 4"/>
          <p:cNvSpPr/>
          <p:nvPr/>
        </p:nvSpPr>
        <p:spPr>
          <a:xfrm>
            <a:off x="4846320" y="137160"/>
            <a:ext cx="164592" cy="164592"/>
          </a:xfrm>
          <a:prstGeom prst="oval">
            <a:avLst/>
          </a:prstGeom>
          <a:solidFill>
            <a:srgbClr val="F96167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502920"/>
            <a:ext cx="777240" cy="777240"/>
          </a:xfrm>
          <a:prstGeom prst="oval">
            <a:avLst/>
          </a:prstGeom>
          <a:solidFill>
            <a:srgbClr val="F96167">
              <a:alpha val="50000"/>
            </a:srgbClr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6400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616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Subagente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1417320" y="960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agente dentro do agente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1371600"/>
            <a:ext cx="8229600" cy="1828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2" name="Shape 9"/>
          <p:cNvSpPr/>
          <p:nvPr/>
        </p:nvSpPr>
        <p:spPr>
          <a:xfrm>
            <a:off x="45720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1554480"/>
            <a:ext cx="26060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9436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LLM separado, instanciado pelo agente principal para executar uma subtarefa de forma autônoma e independente.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4612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46120" y="1554480"/>
            <a:ext cx="26060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5"/>
          <p:cNvSpPr/>
          <p:nvPr/>
        </p:nvSpPr>
        <p:spPr>
          <a:xfrm>
            <a:off x="338328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38328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pai delega uma tarefa. O subagente raciocina, usa suas próprias tools/skills, e devolve o resultado ao pai.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035040" y="1554480"/>
            <a:ext cx="2606040" cy="1188720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35040" y="1554480"/>
            <a:ext cx="2606040" cy="36576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2" name="Text 19"/>
          <p:cNvSpPr/>
          <p:nvPr/>
        </p:nvSpPr>
        <p:spPr>
          <a:xfrm>
            <a:off x="6172200" y="162763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ANALOGIA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6172200" y="18745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gerente que contrata um especialista para um projeto: o especialista tem autonomia total dentro do seu escopo.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57200" y="2926080"/>
            <a:ext cx="8229600" cy="640080"/>
          </a:xfrm>
          <a:prstGeom prst="rect">
            <a:avLst/>
          </a:prstGeom>
          <a:solidFill>
            <a:srgbClr val="1E1E3A"/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94360" y="29718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PRÁTICO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94360" y="320040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principal pesquisa um tema → subagente A escreve o rascunho → subagente B revisa → resultado volta ao pai.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45720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código?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56692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324612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35584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age?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35584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modelo LLM com contexto próprio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035040" y="3749040"/>
            <a:ext cx="2606040" cy="594360"/>
          </a:xfrm>
          <a:prstGeom prst="rect">
            <a:avLst/>
          </a:prstGeom>
          <a:solidFill>
            <a:srgbClr val="12122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44768" y="378561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linha: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6144768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quem executa tarefas paralelas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4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Tabela Comparativa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914400" y="822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dos quatro conceitos lado a lado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320040"/>
          </a:xfrm>
          <a:prstGeom prst="rect">
            <a:avLst/>
          </a:prstGeom>
          <a:solidFill>
            <a:srgbClr val="2D2D5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Conceito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916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069080" y="12801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 código?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49240" y="12801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age?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178040" y="12801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uma linha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1645920"/>
            <a:ext cx="8503920" cy="61264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1645920"/>
            <a:ext cx="54864" cy="61264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1645920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91640" y="1645920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Instruções/playbook em Markdown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69080" y="1645920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349240" y="1645920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próprio modelo, guiado pelo texto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178040" y="1645920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como o agente deve pensar/agir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2304288"/>
            <a:ext cx="8503920" cy="61264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2304288"/>
            <a:ext cx="54864" cy="612648"/>
          </a:xfrm>
          <a:prstGeom prst="rect">
            <a:avLst/>
          </a:prstGeom>
          <a:solidFill>
            <a:srgbClr val="00BCD4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304288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2304288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chamável com schema definido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069080" y="2304288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349240" y="2304288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externo; resultado volta ao modelo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78040" y="2304288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Diz o que o agente pode executar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962656"/>
            <a:ext cx="8503920" cy="61264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2962656"/>
            <a:ext cx="54864" cy="612648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2962656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91640" y="2962656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para expor tools de forma padronizada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069080" y="2962656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349240" y="2962656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externo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178040" y="2962656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tools externas são conectadas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621024"/>
            <a:ext cx="8503920" cy="612648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3621024"/>
            <a:ext cx="54864" cy="612648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621024"/>
            <a:ext cx="1143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691640" y="3621024"/>
            <a:ext cx="22860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separado para subtarefa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069080" y="3621024"/>
            <a:ext cx="11887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(via tools)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349240" y="3621024"/>
            <a:ext cx="17373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modelo LLM com contexto próprio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78040" y="3621024"/>
            <a:ext cx="1645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agente que trabalha para o pai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57200" y="4069080"/>
            <a:ext cx="8229600" cy="411480"/>
          </a:xfrm>
          <a:prstGeom prst="roundRect">
            <a:avLst>
              <a:gd name="adj" fmla="val 13333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40690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Dica: 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esses conceitos se complementam: uma Skill pode instruir o uso de Tools via MCP, delegando partes a Subagentes.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6A69A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19456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SE CONECTAM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 4 pilares em ação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Exemplo: "Pesquise sobre IA generativa e crie um relatório revisado"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1920240" cy="2377440"/>
          </a:xfrm>
          <a:prstGeom prst="rect">
            <a:avLst/>
          </a:prstGeom>
          <a:solidFill>
            <a:srgbClr val="1E1E3A"/>
          </a:solidFill>
          <a:ln w="10160">
            <a:solidFill>
              <a:srgbClr val="7C4D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1737360"/>
            <a:ext cx="411480" cy="411480"/>
          </a:xfrm>
          <a:prstGeom prst="oval">
            <a:avLst/>
          </a:prstGeom>
          <a:solidFill>
            <a:srgbClr val="7C4DFF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8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40280"/>
            <a:ext cx="502920" cy="5029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ativa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'research-report' é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injetada no contexto com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fluxo de trabalho.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237744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2606040" y="1600200"/>
            <a:ext cx="1920240" cy="2377440"/>
          </a:xfrm>
          <a:prstGeom prst="rect">
            <a:avLst/>
          </a:prstGeom>
          <a:solidFill>
            <a:srgbClr val="1E1E3A"/>
          </a:solidFill>
          <a:ln w="10160">
            <a:solidFill>
              <a:srgbClr val="00BCD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337560" y="1737360"/>
            <a:ext cx="411480" cy="411480"/>
          </a:xfrm>
          <a:prstGeom prst="oval">
            <a:avLst/>
          </a:prstGeom>
          <a:solidFill>
            <a:srgbClr val="00BCD4"/>
          </a:solidFill>
          <a:ln/>
        </p:spPr>
      </p:sp>
      <p:sp>
        <p:nvSpPr>
          <p:cNvPr id="16" name="Text 13"/>
          <p:cNvSpPr/>
          <p:nvPr/>
        </p:nvSpPr>
        <p:spPr>
          <a:xfrm>
            <a:off x="333756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8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240280"/>
            <a:ext cx="502920" cy="5029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9748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executam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69748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chama web_search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buscar fontes 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read_file para ler dados.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452628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4754880" y="1600200"/>
            <a:ext cx="1920240" cy="2377440"/>
          </a:xfrm>
          <a:prstGeom prst="rect">
            <a:avLst/>
          </a:prstGeom>
          <a:solidFill>
            <a:srgbClr val="1E1E3A"/>
          </a:solidFill>
          <a:ln w="10160">
            <a:solidFill>
              <a:srgbClr val="4CAF5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0" y="1737360"/>
            <a:ext cx="411480" cy="411480"/>
          </a:xfrm>
          <a:prstGeom prst="oval">
            <a:avLst/>
          </a:prstGeom>
          <a:solidFill>
            <a:srgbClr val="4CAF50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8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240280"/>
            <a:ext cx="502920" cy="5029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4632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conecta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84632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externas como 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e Slack são expostas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servidores MCP.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6675120" y="2468880"/>
            <a:ext cx="228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6903720" y="1600200"/>
            <a:ext cx="1920240" cy="2377440"/>
          </a:xfrm>
          <a:prstGeom prst="rect">
            <a:avLst/>
          </a:prstGeom>
          <a:solidFill>
            <a:srgbClr val="1E1E3A"/>
          </a:solidFill>
          <a:ln w="10160">
            <a:solidFill>
              <a:srgbClr val="F96167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635240" y="1737360"/>
            <a:ext cx="411480" cy="411480"/>
          </a:xfrm>
          <a:prstGeom prst="oval">
            <a:avLst/>
          </a:prstGeom>
          <a:solidFill>
            <a:srgbClr val="F96167"/>
          </a:solidFill>
          <a:ln/>
        </p:spPr>
      </p:sp>
      <p:sp>
        <p:nvSpPr>
          <p:cNvPr id="30" name="Text 25"/>
          <p:cNvSpPr/>
          <p:nvPr/>
        </p:nvSpPr>
        <p:spPr>
          <a:xfrm>
            <a:off x="763524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0F2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0" y="2240280"/>
            <a:ext cx="502920" cy="50292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95160" y="27889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Subagente revisa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99516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subagente especialista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 rascunho, revisa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devolve a versão final.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457200" y="420624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1E1E3A"/>
          </a:solidFill>
          <a:ln w="10160">
            <a:solidFill>
              <a:srgbClr val="26A69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6A6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Skill orquestra o raciocínio, as Tools executam ações, o MCP padroniza conexões e os Subagentes dividem o trabalho.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1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0F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228600"/>
            <a:ext cx="2011680" cy="320040"/>
          </a:xfrm>
          <a:prstGeom prst="roundRect">
            <a:avLst>
              <a:gd name="adj" fmla="val 17143"/>
            </a:avLst>
          </a:prstGeom>
          <a:solidFill>
            <a:srgbClr val="D4A84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DECISÃO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Quando usar cada pilar?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8229600" cy="713232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54864" cy="713232"/>
          </a:xfrm>
          <a:prstGeom prst="rect">
            <a:avLst/>
          </a:prstGeom>
          <a:solidFill>
            <a:srgbClr val="7C4DF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44752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88720" y="1325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padronizar o raciocínio do agente?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188720" y="162763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agente deve seguir um fluxo, formato ou checklist específico em toda execução.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583680" y="1463040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7C4DFF">
              <a:alpha val="7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583680" y="1463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4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Use uma Skill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121408"/>
            <a:ext cx="8229600" cy="713232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121408"/>
            <a:ext cx="54864" cy="713232"/>
          </a:xfrm>
          <a:prstGeom prst="rect">
            <a:avLst/>
          </a:prstGeom>
          <a:solidFill>
            <a:srgbClr val="00BCD4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28600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88720" y="21671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agente precisa agir no mundo real?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188720" y="24688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o agente precisa ler arquivos, chamar APIs, enviar e-mails ou executar comandos.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583680" y="2304288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00BCD4">
              <a:alpha val="70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6583680" y="2304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C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Crie uma Tool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57200" y="2962656"/>
            <a:ext cx="8229600" cy="713232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57200" y="2962656"/>
            <a:ext cx="54864" cy="713232"/>
          </a:xfrm>
          <a:prstGeom prst="rect">
            <a:avLst/>
          </a:prstGeom>
          <a:solidFill>
            <a:srgbClr val="4CAF50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3127248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188720" y="300837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 integrar com serviços externos de forma padrão?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88720" y="33101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há um servidor MCP disponível (Gmail, Slack, GitHub) e você quer plug-and-play.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583680" y="3145536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4CAF50">
              <a:alpha val="70000"/>
            </a:srgbClr>
          </a:solidFill>
          <a:ln/>
        </p:spPr>
      </p:sp>
      <p:sp>
        <p:nvSpPr>
          <p:cNvPr id="26" name="Text 21"/>
          <p:cNvSpPr/>
          <p:nvPr/>
        </p:nvSpPr>
        <p:spPr>
          <a:xfrm>
            <a:off x="6583680" y="31455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Conecte via MCP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457200" y="3803904"/>
            <a:ext cx="8229600" cy="713232"/>
          </a:xfrm>
          <a:prstGeom prst="rect">
            <a:avLst/>
          </a:prstGeom>
          <a:solidFill>
            <a:srgbClr val="1E1E3A"/>
          </a:solidFill>
          <a:ln w="6350">
            <a:solidFill>
              <a:srgbClr val="2D2D55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57200" y="3803904"/>
            <a:ext cx="54864" cy="713232"/>
          </a:xfrm>
          <a:prstGeom prst="rect">
            <a:avLst/>
          </a:prstGeom>
          <a:solidFill>
            <a:srgbClr val="F96167"/>
          </a:solidFill>
          <a:ln/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68496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188720" y="384962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tarefa é complexa demais para um só agente?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188720" y="41513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convém dividir em subtarefas autônomas com raciocínio independente.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6583680" y="3986784"/>
            <a:ext cx="1920240" cy="347472"/>
          </a:xfrm>
          <a:prstGeom prst="roundRect">
            <a:avLst>
              <a:gd name="adj" fmla="val 15789"/>
            </a:avLst>
          </a:prstGeom>
          <a:solidFill>
            <a:srgbClr val="F96167">
              <a:alpha val="70000"/>
            </a:srgbClr>
          </a:solidFill>
          <a:ln/>
        </p:spPr>
      </p:sp>
      <p:sp>
        <p:nvSpPr>
          <p:cNvPr id="33" name="Text 27"/>
          <p:cNvSpPr/>
          <p:nvPr/>
        </p:nvSpPr>
        <p:spPr>
          <a:xfrm>
            <a:off x="6583680" y="39867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Delegue a um Subagente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57200" y="4663440"/>
            <a:ext cx="8229600" cy="320040"/>
          </a:xfrm>
          <a:prstGeom prst="roundRect">
            <a:avLst>
              <a:gd name="adj" fmla="val 17143"/>
            </a:avLst>
          </a:prstGeom>
          <a:solidFill>
            <a:srgbClr val="1E1E3A"/>
          </a:solidFill>
          <a:ln w="6350">
            <a:solidFill>
              <a:srgbClr val="3A3A5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Lembre-se: </a:t>
            </a:r>
            <a:pPr indent="0" marL="0">
              <a:buNone/>
            </a:pPr>
            <a:r>
              <a:rPr lang="en-US" sz="1000" dirty="0">
                <a:solidFill>
                  <a:srgbClr val="C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pilares não se excluem — na maioria dos projetos reais, você usará os quatro juntos.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229600" y="4754880"/>
            <a:ext cx="594360" cy="274320"/>
          </a:xfrm>
          <a:prstGeom prst="roundRect">
            <a:avLst>
              <a:gd name="adj" fmla="val 33333"/>
            </a:avLst>
          </a:prstGeom>
          <a:solidFill>
            <a:srgbClr val="7C4DFF"/>
          </a:solidFill>
          <a:ln/>
        </p:spPr>
      </p:sp>
      <p:sp>
        <p:nvSpPr>
          <p:cNvPr id="37" name="Text 31"/>
          <p:cNvSpPr/>
          <p:nvPr/>
        </p:nvSpPr>
        <p:spPr>
          <a:xfrm>
            <a:off x="8229600" y="4754880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de Conceitos: Skill, Tool, MCP &amp; Subagentes</dc:title>
  <dc:subject>PptxGenJS Presentation</dc:subject>
  <dc:creator>Rodrigo</dc:creator>
  <cp:lastModifiedBy>Rodrigo</cp:lastModifiedBy>
  <cp:revision>1</cp:revision>
  <dcterms:created xsi:type="dcterms:W3CDTF">2026-03-17T03:07:19Z</dcterms:created>
  <dcterms:modified xsi:type="dcterms:W3CDTF">2026-03-17T03:07:19Z</dcterms:modified>
</cp:coreProperties>
</file>